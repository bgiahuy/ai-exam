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bce4fa531a84c69" /><Relationship Type="http://schemas.openxmlformats.org/officeDocument/2006/relationships/extended-properties" Target="/docProps/app.xml" Id="R5408cc629264491e" /><Relationship Type="http://schemas.openxmlformats.org/officeDocument/2006/relationships/officeDocument" Target="/ppt/presentation.xml" Id="R0481d85eea4848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7ad8cf77ccd4979"/>
  </p:sldMasterIdLst>
  <p:notesMasterIdLst>
    <p:notesMasterId xmlns:r="http://schemas.openxmlformats.org/officeDocument/2006/relationships" r:id="R09d5a5dd872540bf"/>
  </p:notesMasterIdLst>
  <p:sldIdLst>
    <p:sldId xmlns:r="http://schemas.openxmlformats.org/officeDocument/2006/relationships" id="256" r:id="Rc9da7583a6b34428"/>
    <p:sldId xmlns:r="http://schemas.openxmlformats.org/officeDocument/2006/relationships" id="257" r:id="R5127ca82b02f4265"/>
    <p:sldId xmlns:r="http://schemas.openxmlformats.org/officeDocument/2006/relationships" id="258" r:id="R0576f13959554e22"/>
    <p:sldId xmlns:r="http://schemas.openxmlformats.org/officeDocument/2006/relationships" id="259" r:id="Re9ae6f336dfc42d6"/>
    <p:sldId xmlns:r="http://schemas.openxmlformats.org/officeDocument/2006/relationships" id="260" r:id="Re7db8bc1eca74b73"/>
    <p:sldId xmlns:r="http://schemas.openxmlformats.org/officeDocument/2006/relationships" id="261" r:id="Rd242b37ed3a14a58"/>
    <p:sldId xmlns:r="http://schemas.openxmlformats.org/officeDocument/2006/relationships" id="262" r:id="Re125bb57547d492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dc5830ba7cd47a9" /><Relationship Type="http://schemas.openxmlformats.org/officeDocument/2006/relationships/slideMaster" Target="/ppt/slideMasters/slideMaster1.xml" Id="R77ad8cf77ccd4979" /><Relationship Type="http://schemas.openxmlformats.org/officeDocument/2006/relationships/notesMaster" Target="/ppt/notesMasters/notesMaster1.xml" Id="R09d5a5dd872540bf" /><Relationship Type="http://schemas.openxmlformats.org/officeDocument/2006/relationships/presProps" Target="/ppt/presProps.xml" Id="Rff54e0923f82496f" /><Relationship Type="http://schemas.openxmlformats.org/officeDocument/2006/relationships/tableStyles" Target="/ppt/tableStyles.xml" Id="Ra265ed9d81414131" /><Relationship Type="http://schemas.openxmlformats.org/officeDocument/2006/relationships/slide" Target="/ppt/slides/slide1.xml" Id="Rc9da7583a6b34428" /><Relationship Type="http://schemas.openxmlformats.org/officeDocument/2006/relationships/slide" Target="/ppt/slides/slide2.xml" Id="R5127ca82b02f4265" /><Relationship Type="http://schemas.openxmlformats.org/officeDocument/2006/relationships/slide" Target="/ppt/slides/slide3.xml" Id="R0576f13959554e22" /><Relationship Type="http://schemas.openxmlformats.org/officeDocument/2006/relationships/slide" Target="/ppt/slides/slide4.xml" Id="Re9ae6f336dfc42d6" /><Relationship Type="http://schemas.openxmlformats.org/officeDocument/2006/relationships/slide" Target="/ppt/slides/slide5.xml" Id="Re7db8bc1eca74b73" /><Relationship Type="http://schemas.openxmlformats.org/officeDocument/2006/relationships/slide" Target="/ppt/slides/slide6.xml" Id="Rd242b37ed3a14a58" /><Relationship Type="http://schemas.openxmlformats.org/officeDocument/2006/relationships/slide" Target="/ppt/slides/slide7.xml" Id="Re125bb57547d492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3ad68033981491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e7e67829ddf4981" /><Relationship Type="http://schemas.openxmlformats.org/officeDocument/2006/relationships/notesMaster" Target="/ppt/notesMasters/notesMaster1.xml" Id="Rc1bccfcc250849c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0925d48028f40fc" /><Relationship Type="http://schemas.openxmlformats.org/officeDocument/2006/relationships/notesMaster" Target="/ppt/notesMasters/notesMaster1.xml" Id="R35b7a75a843d41a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a394558936b452b" /><Relationship Type="http://schemas.openxmlformats.org/officeDocument/2006/relationships/notesMaster" Target="/ppt/notesMasters/notesMaster1.xml" Id="Rd61fc8e3acda463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107f55c16804e5d" /><Relationship Type="http://schemas.openxmlformats.org/officeDocument/2006/relationships/notesMaster" Target="/ppt/notesMasters/notesMaster1.xml" Id="R7a040249e5c145c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2288b7adc8d42d0" /><Relationship Type="http://schemas.openxmlformats.org/officeDocument/2006/relationships/notesMaster" Target="/ppt/notesMasters/notesMaster1.xml" Id="R9a6350af6db048d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8e773d6872b435a" /><Relationship Type="http://schemas.openxmlformats.org/officeDocument/2006/relationships/notesMaster" Target="/ppt/notesMasters/notesMaster1.xml" Id="Rb946502b93264a4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c5ead2085c54c2c" /><Relationship Type="http://schemas.openxmlformats.org/officeDocument/2006/relationships/notesMaster" Target="/ppt/notesMasters/notesMaster1.xml" Id="R9835ac1fab6c4fb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Mục tiêu buổi học: Tính metric ở một operating point, đọc giới hạn benchmark và giải thích đầy đủ pipeline triển khai.</a:t>
            </a:r>
          </a:p>
          <a:p xmlns:a="http://schemas.openxmlformats.org/drawingml/2006/main">
            <a:r>
              <a:t>Nguồn nội bộ: deliverables/dao_tao_5_buoi/01_GIAO_AN.md; 11_NGUON_VA_GIOI_HAN.md.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Yêu cầu học viên trả lời câu dẫn đường trước khi dạy. Lặp lại cuối buổi để nhìn sự thay đổi trong cách giải thích.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 mỗi học viên chọn một lớp và nêu đầu vào, đầu ra, một lỗi có thể xảy ra.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reports/evidence/report_runtime/e2e_benchmark_result.json; architecture_pipeline_diagram.png; reports/evidence/training_lineage/lineage_manifest.json.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Dùng phiếu thực hành 12_PHIEU_THUC_HANH.md. Không thao tác trên model, DB hoặc bằng chứng gốc. Phần rehearsal giám khảo chỉ dùng để kiểm tra hiểu, không thay thế bài tập metric.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 học viên tự sửa câu sai trước khi hiện cách diễn đạt đúng. Không biến slide thành đáp án học thuộc.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Chấm theo rubric trong 07_KIEM_TRA.md. Một đáp án đúng nhưng không giải thích được ví dụ mới chỉ đạt tối đa một nửa điểm.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865081143444d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56561bcaf4e4a62" /><Relationship Type="http://schemas.openxmlformats.org/officeDocument/2006/relationships/slideLayout" Target="/ppt/slideLayouts/slideLayout1.xml" Id="R91b81a03480c4aa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1b81a03480c4aa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5e18accf304e4d" /><Relationship Type="http://schemas.openxmlformats.org/officeDocument/2006/relationships/notesSlide" Target="/ppt/notesSlides/notesSlide1.xml" Id="R5891ffe590674a3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4fcb6ec84f4f29" /><Relationship Type="http://schemas.openxmlformats.org/officeDocument/2006/relationships/notesSlide" Target="/ppt/notesSlides/notesSlide2.xml" Id="Rdad2911e2711496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b3a10593be4d64" /><Relationship Type="http://schemas.openxmlformats.org/officeDocument/2006/relationships/notesSlide" Target="/ppt/notesSlides/notesSlide3.xml" Id="R412b5b5faefe4fe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5d404f93814abd" /><Relationship Type="http://schemas.openxmlformats.org/officeDocument/2006/relationships/image" Target="/ppt/media/image.png" Id="R4fcf07277bba4873" /><Relationship Type="http://schemas.openxmlformats.org/officeDocument/2006/relationships/notesSlide" Target="/ppt/notesSlides/notesSlide4.xml" Id="Rf2c3b0446adf45a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09547ff1ce48b0" /><Relationship Type="http://schemas.openxmlformats.org/officeDocument/2006/relationships/notesSlide" Target="/ppt/notesSlides/notesSlide5.xml" Id="R45b6deba48ea404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210c0fdd6547a8" /><Relationship Type="http://schemas.openxmlformats.org/officeDocument/2006/relationships/notesSlide" Target="/ppt/notesSlides/notesSlide6.xml" Id="R67c3c0bcc7564f8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4c4e7fd9924554" /><Relationship Type="http://schemas.openxmlformats.org/officeDocument/2006/relationships/notesSlide" Target="/ppt/notesSlides/notesSlide7.xml" Id="R58da88865177425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1B649D-9619-42E6-95E4-549CCDDBF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B981"/>
                </a:solidFill>
                <a:latin typeface="Arial"/>
                <a:ea typeface="Arial"/>
                <a:cs typeface="Arial"/>
              </a:rPr>
              <a:t>BUỔI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581682-C725-4925-9315-A85C832EA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95400"/>
            <a:ext cx="9334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Đánh giá, inference và ghép thành sản phẩm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424129-D4AA-4EA1-B406-49BDF5800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8096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Từ checkpoint đến cảnh báo có bằng chứng và người duyệt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339123-594E-4A24-B322-3C9A65DC8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809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0B98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100CB8-F853-4C09-8084-B9EAFCF5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838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Tính metric ở một operating point, đọc giới hạn benchmark và giải thích đầy đủ pipeline triển khai.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788380-7774-4BEE-ADC4-C46F9A6E6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1A1AA"/>
                </a:solidFill>
                <a:latin typeface="Arial"/>
                <a:ea typeface="Arial"/>
                <a:cs typeface="Arial"/>
              </a:rPr>
              <a:t>AI EXAM CONTROL · HỌC QUA ARTIFACT CỦA PROJECT</a:t>
            </a:r>
          </a:p>
        </p:txBody>
      </p:sp>
    </p:spTree>
    <p:extLst>
      <p:ext uri="{BB962C8B-B14F-4D97-AF65-F5344CB8AC3E}">
        <p14:creationId xmlns:p14="http://schemas.microsoft.com/office/powerpoint/2010/main" val="219157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50EA7F-94F5-4641-8A03-82806BA17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Câu hỏi dẫn đường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9FB627-CFED-4847-A313-DAF038FAD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1A1A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CBF6EC-B696-4046-AD9B-A73B9CD08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3F4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493F14-D46C-42B8-B494-20428C464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71600"/>
            <a:ext cx="10572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Từ model có metric đến hệ thống dùng được còn những lớp nào, và ta được phép kết luận gì?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F903D4-C7AB-44C8-989A-1A94AE465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B981"/>
                </a:solidFill>
                <a:latin typeface="Arial"/>
                <a:ea typeface="Arial"/>
                <a:cs typeface="Arial"/>
              </a:rPr>
              <a:t>Cuối buổi, học viên tự làm được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C2AD59-B6C7-4E63-86EB-F8DA8FB96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909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9090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9090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E7B7BB-564A-4D80-9FB3-A1D53AC91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276600"/>
            <a:ext cx="942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Tính precision, recall, F1 từ TP, FP, FN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F2A9BC-140F-49D8-A3A7-F733E39EC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9090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9090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71458E-534C-48D7-8E2A-DA0F420F6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981450"/>
            <a:ext cx="942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Đọc đúng AP/mAP và operating threshold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CDEF3B-A490-4920-98CA-DFE299A48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006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9090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9090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87FEC1-8DF2-42CB-8BB4-81FBDB339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686300"/>
            <a:ext cx="942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Phân biệt lỗi data, model và deployment</a:t>
            </a:r>
          </a:p>
        </p:txBody>
      </p:sp>
    </p:spTree>
    <p:extLst>
      <p:ext uri="{BB962C8B-B14F-4D97-AF65-F5344CB8AC3E}">
        <p14:creationId xmlns:p14="http://schemas.microsoft.com/office/powerpoint/2010/main" val="18810435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D5FD57-7870-4A54-B9F3-33D2E649D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Inference pipeline đầy đủ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724C77-F599-4A4F-85D5-B23A0C360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1A1A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C6D26E-A41D-46AA-B9EE-DDC8A7808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3F4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E16571-138F-48FF-86D2-73CDEAA30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00250"/>
            <a:ext cx="2009775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18181B"/>
          </a:solidFill>
          <a:ln xmlns:a="http://schemas.openxmlformats.org/drawingml/2006/main" w="9525">
            <a:solidFill>
              <a:srgbClr val="3F3F4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20B81A-96BB-477D-B000-CF2E2B413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3360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B981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7A58E4-95D8-48E3-A05A-1F7E65532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17049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Nguồn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86D119-DCC8-4922-B199-C96F1F122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17049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Camera hoặc video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4C9BA9-59CE-4F23-9DEE-6ACBA9FEA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000250"/>
            <a:ext cx="2009775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18181B"/>
          </a:solidFill>
          <a:ln xmlns:a="http://schemas.openxmlformats.org/drawingml/2006/main" w="9525">
            <a:solidFill>
              <a:srgbClr val="3F3F4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918F5C-6C69-423D-A99D-8074A5999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13360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B981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9925F4-B6BD-47CB-8219-6916F1527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476500"/>
            <a:ext cx="17049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E83062-EA93-4C3A-9E71-DC512C0E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009900"/>
            <a:ext cx="17049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Detection và pose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192E3E-7BB1-467C-8AFD-65D5F9CDE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000250"/>
            <a:ext cx="2009775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18181B"/>
          </a:solidFill>
          <a:ln xmlns:a="http://schemas.openxmlformats.org/drawingml/2006/main" w="9525">
            <a:solidFill>
              <a:srgbClr val="3F3F4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A29883-EE13-4106-9DAE-F3650843A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13360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B981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230197-E173-4D12-ADAB-490761B6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76500"/>
            <a:ext cx="17049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Logic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D16FD5-6D1F-4CC9-B325-009889AFD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009900"/>
            <a:ext cx="17049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Track và thời gian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D89CDA-4B2E-455F-9A47-41E8C7D3A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00250"/>
            <a:ext cx="2009775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18181B"/>
          </a:solidFill>
          <a:ln xmlns:a="http://schemas.openxmlformats.org/drawingml/2006/main" w="9525">
            <a:solidFill>
              <a:srgbClr val="3F3F4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8AEF65-276E-483A-8DFD-12698FD16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13360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B981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096E3B-CB4E-4025-BB97-C5FFDEF8D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476500"/>
            <a:ext cx="17049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4DD961-4CFB-431A-8993-58CCE717B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009900"/>
            <a:ext cx="17049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RingBuffer và DB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6BE04C-BD12-40AA-ACE3-4C7F30642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000250"/>
            <a:ext cx="2009775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10B981"/>
          </a:solidFill>
          <a:ln xmlns:a="http://schemas.openxmlformats.org/drawingml/2006/main" w="9525">
            <a:solidFill>
              <a:srgbClr val="10B981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92D254-2F28-4FFA-AC49-81F6ED795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13360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9090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9090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76A435-39FC-481E-9706-31813211A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476500"/>
            <a:ext cx="17049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9090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9090B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5817EF-F91E-4635-A22D-4625BF5E5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009900"/>
            <a:ext cx="17049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52E2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52E24"/>
                </a:solidFill>
                <a:latin typeface="Arial"/>
                <a:ea typeface="Arial"/>
                <a:cs typeface="Arial"/>
              </a:rPr>
              <a:t>UI và giám thị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435C88-DE65-40FE-BC4D-17BB8EFE5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48150"/>
            <a:ext cx="1028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Một metric của model không đại diện cho mọi lỗi của hệ thống triển khai.</a:t>
            </a:r>
          </a:p>
        </p:txBody>
      </p:sp>
    </p:spTree>
    <p:extLst>
      <p:ext uri="{BB962C8B-B14F-4D97-AF65-F5344CB8AC3E}">
        <p14:creationId xmlns:p14="http://schemas.microsoft.com/office/powerpoint/2010/main" val="183348639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2A6F86-C72F-4444-A56F-B0C62512C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Kiến trúc và benchmark lịch sử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F6E9B1-7F85-4FCA-BAE4-978FAFDF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1A1A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95642B-B8F6-4ECA-8007-99F0204B2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3F4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EF7942-EF81-4E08-91D2-60BD48D5F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4810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Benchmark 125,1 giây:</a:t>
            </a:r>
          </a:p>
          <a:p xmlns:a="http://schemas.openxmlformats.org/drawingml/2006/main">
            <a:pPr algn="l">
              <a:defRPr sz="1500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Camera/server nhận khoảng 15,58 FPS</a:t>
            </a:r>
          </a:p>
          <a:p xmlns:a="http://schemas.openxmlformats.org/drawingml/2006/main">
            <a:pPr algn="l">
              <a:defRPr sz="1500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354 kết quả, khoảng 2,83 kết quả/s</a:t>
            </a:r>
          </a:p>
          <a:p xmlns:a="http://schemas.openxmlformats.org/drawingml/2006/main">
            <a:pPr algn="l">
              <a:defRPr sz="1500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85,3% frame chờ bị supersede</a:t>
            </a:r>
          </a:p>
          <a:p xmlns:a="http://schemas.openxmlformats.org/drawingml/2006/main">
            <a:pPr algn="l">
              <a:defRPr sz="1500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Mean inference latency 360,4 ms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Đây là phép đo hiệu năng của một cấu hình, không phải accuracy.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cf07277bba4873"/>
          <a:stretch xmlns:a="http://schemas.openxmlformats.org/drawingml/2006/main"/>
        </p:blipFill>
        <p:spPr>
          <a:xfrm xmlns:a="http://schemas.openxmlformats.org/drawingml/2006/main">
            <a:off x="5810250" y="2038494"/>
            <a:ext cx="5715000" cy="2828636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03F54F-2639-41CB-BC84-643158527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531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B981"/>
                </a:solidFill>
                <a:latin typeface="Arial"/>
                <a:ea typeface="Arial"/>
                <a:cs typeface="Arial"/>
              </a:rPr>
              <a:t>Validation mAP và benchmark latency trả lời hai câu hỏi khác nhau.</a:t>
            </a:r>
          </a:p>
        </p:txBody>
      </p:sp>
    </p:spTree>
    <p:extLst>
      <p:ext uri="{BB962C8B-B14F-4D97-AF65-F5344CB8AC3E}">
        <p14:creationId xmlns:p14="http://schemas.microsoft.com/office/powerpoint/2010/main" val="17435197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1C9E98-9380-48AB-81F8-315AA553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Thực hành trong lớp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C3A2DE-3FFF-4D1D-95CC-4A82F9A8D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1A1A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E4FC8B-A728-4A2D-8BA0-94E02812E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3F4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107775-55B3-409A-BD33-56EDE457D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954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Từ 20 prediction giả định đến một báo cáo đánh giá mini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E9B87E-2720-45AC-99A7-32933F315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9090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9090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8C53AF-7BF8-4581-AA2D-E5A7DB17B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20980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Khóa phiên bản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6BB460-4986-4C0A-9C03-2F3A24444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20980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Checkpoint, dataset, threshold và protocol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95096A-4DFC-41C5-BAE6-068863D22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9090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9090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A2F9AE-3530-4C87-A4A5-C2DF80B9F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02895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Tính metric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558D9C-908F-462B-946B-04A0E76B8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2895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TP, FP, FN, precision, recall, F1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DC197B-1C95-45DD-857C-829740856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9090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9090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95071A-8D7D-499E-898D-5C669862D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84810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Phân nhóm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435C0E-CC95-429F-8CBC-8F066DDE8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84810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Occlusion, distance, lighting hoặc distractor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1ED6D4-95DD-48F5-8CAD-AB6B2C6E7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244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9090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9090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C669BB-3F9A-49E4-B355-72F87DE8C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66725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Kết luận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65F33E-A55A-4220-B63C-BBE8B06DE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66725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Điều đã đo, chưa đo và thí nghiệm tiếp theo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31B5E2-F4F2-4E94-B331-FE933E388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483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B981"/>
                </a:solidFill>
                <a:latin typeface="Arial"/>
                <a:ea typeface="Arial"/>
                <a:cs typeface="Arial"/>
              </a:rPr>
              <a:t>Sản phẩm nộp: báo cáo đánh giá mini + giải thích pipeline 2 phút</a:t>
            </a:r>
          </a:p>
        </p:txBody>
      </p:sp>
    </p:spTree>
    <p:extLst>
      <p:ext uri="{BB962C8B-B14F-4D97-AF65-F5344CB8AC3E}">
        <p14:creationId xmlns:p14="http://schemas.microsoft.com/office/powerpoint/2010/main" val="5454595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B6CE4F-3342-4F8E-8576-D6FBF447B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Ba nhầm lẫn cần sửa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AE8A4B-49F0-460F-A080-48DB41DDD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1A1A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EAD4CA-EDE5-4348-9614-0951E49B7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3F4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C59C7D-497C-47B0-8E5F-3E7573606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097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3F5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43F5E"/>
                </a:solidFill>
                <a:latin typeface="Arial"/>
                <a:ea typeface="Arial"/>
                <a:cs typeface="Arial"/>
              </a:rPr>
              <a:t>NHẦM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E72AB4-4D0D-467F-BBB2-92E6F6452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333500"/>
            <a:ext cx="885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mAP50 là xác suất một cảnh báo đúng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75CA34-A82C-49AE-B6EA-C396FEE5B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847850"/>
            <a:ext cx="8858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mAP tóm tắt đánh giá detection theo protocol và tập dữ liệu cụ thể.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306D42-3018-45C4-8E9F-F2C07813F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956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3F5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43F5E"/>
                </a:solidFill>
                <a:latin typeface="Arial"/>
                <a:ea typeface="Arial"/>
                <a:cs typeface="Arial"/>
              </a:rPr>
              <a:t>NHẦM 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8A65E7-FC34-403E-A583-CAE04C0D8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819400"/>
            <a:ext cx="885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Camera 15 FPS nghĩa AI xử lý 15 FPS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E0EFB3-A306-4783-B75F-666BB14EF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333750"/>
            <a:ext cx="8858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Capture rate và inference result rate là hai đại lượng khác nhau.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5BC65A-50CB-432E-BFA3-0B1BC00A9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3F5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43F5E"/>
                </a:solidFill>
                <a:latin typeface="Arial"/>
                <a:ea typeface="Arial"/>
                <a:cs typeface="Arial"/>
              </a:rPr>
              <a:t>NHẦM 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E26DD0-5A30-4DB0-ADE6-86D5BF3C5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305300"/>
            <a:ext cx="885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Test phần mềm pass chứng minh model tốt ngoài thực tế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9FFBB7-5F9A-481F-8B0E-ABDD3BF11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819650"/>
            <a:ext cx="8858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Unit/integration test và model evaluation đo những thuộc tính khác nhau.</a:t>
            </a:r>
          </a:p>
        </p:txBody>
      </p:sp>
    </p:spTree>
    <p:extLst>
      <p:ext uri="{BB962C8B-B14F-4D97-AF65-F5344CB8AC3E}">
        <p14:creationId xmlns:p14="http://schemas.microsoft.com/office/powerpoint/2010/main" val="15784517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6F9FA4-28E9-42B8-966D-FA804FCA8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Kiểm tra cuối buổi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00D787-032F-4AA3-9E8C-5880ADF76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1A1A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CEB57C-A656-4FE8-8D2C-7B6D83E37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3F4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54B34D-0C28-4A85-B9AC-5A53A9194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954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B981"/>
                </a:solidFill>
                <a:latin typeface="Arial"/>
                <a:ea typeface="Arial"/>
                <a:cs typeface="Arial"/>
              </a:rPr>
              <a:t>Không nhìn tài liệu. Giải thích bằng lời của em.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BFD54B-105D-4289-A500-A76392EDC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14550"/>
            <a:ext cx="38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1A1AA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519C5C-C65E-4032-B641-C3F7DDEFA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019300"/>
            <a:ext cx="981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Khi nào ưu tiên precision, khi nào ưu tiên recall?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3887AA-598D-45CA-9B2A-C6000455E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95600"/>
            <a:ext cx="38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1A1AA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2B698B-3171-4FF8-B8AD-FAFDB4A83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00350"/>
            <a:ext cx="981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Một model tốt vẫn có thể thất bại ở lớp deployment nào?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9FF19A-506D-4352-AE64-F9754E305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76650"/>
            <a:ext cx="38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1A1AA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0AD6D1-3123-4F92-B301-2ED704CC6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81400"/>
            <a:ext cx="981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Em còn thiếu bằng chứng gì để nói về phòng thi thật?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3F555F-246C-471A-9DE1-1C94D8505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1A1AA"/>
                </a:solidFill>
                <a:latin typeface="Arial"/>
                <a:ea typeface="Arial"/>
                <a:cs typeface="Arial"/>
              </a:rPr>
              <a:t>Bài nộp: báo cáo đánh giá mini + giải thích pipeline 2 phút</a:t>
            </a:r>
          </a:p>
        </p:txBody>
      </p:sp>
    </p:spTree>
    <p:extLst>
      <p:ext uri="{BB962C8B-B14F-4D97-AF65-F5344CB8AC3E}">
        <p14:creationId xmlns:p14="http://schemas.microsoft.com/office/powerpoint/2010/main" val="18638996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2026-09-26T10:50:19.8010000Z</dcterms:created>
  <dcterms:modified xsi:type="dcterms:W3CDTF">2026-09-26T10:50:19.8010000Z</dcterms:modified>
</coreProperties>
</file>