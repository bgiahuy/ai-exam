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778d4f0b664545" /><Relationship Type="http://schemas.openxmlformats.org/officeDocument/2006/relationships/extended-properties" Target="/docProps/app.xml" Id="R2364b948d2a8413a" /><Relationship Type="http://schemas.openxmlformats.org/officeDocument/2006/relationships/officeDocument" Target="/ppt/presentation.xml" Id="R6f06a698247e4d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fb12f8a7e4f78"/>
  </p:sldMasterIdLst>
  <p:notesMasterIdLst>
    <p:notesMasterId xmlns:r="http://schemas.openxmlformats.org/officeDocument/2006/relationships" r:id="R1ecfef4def394d4c"/>
  </p:notesMasterIdLst>
  <p:sldIdLst>
    <p:sldId xmlns:r="http://schemas.openxmlformats.org/officeDocument/2006/relationships" id="256" r:id="R9c244149737d42a0"/>
    <p:sldId xmlns:r="http://schemas.openxmlformats.org/officeDocument/2006/relationships" id="257" r:id="R331af55c52ac4574"/>
    <p:sldId xmlns:r="http://schemas.openxmlformats.org/officeDocument/2006/relationships" id="258" r:id="R512404a5c9354bc2"/>
    <p:sldId xmlns:r="http://schemas.openxmlformats.org/officeDocument/2006/relationships" id="259" r:id="R40e1947bef104b52"/>
    <p:sldId xmlns:r="http://schemas.openxmlformats.org/officeDocument/2006/relationships" id="260" r:id="Rb988099e78344611"/>
    <p:sldId xmlns:r="http://schemas.openxmlformats.org/officeDocument/2006/relationships" id="261" r:id="R33992388ea584276"/>
    <p:sldId xmlns:r="http://schemas.openxmlformats.org/officeDocument/2006/relationships" id="262" r:id="Ra0310520dcf44543"/>
    <p:sldId xmlns:r="http://schemas.openxmlformats.org/officeDocument/2006/relationships" id="263" r:id="Rd33b5955cebe49bf"/>
    <p:sldId xmlns:r="http://schemas.openxmlformats.org/officeDocument/2006/relationships" id="264" r:id="Rc15f02556ddd43a9"/>
    <p:sldId xmlns:r="http://schemas.openxmlformats.org/officeDocument/2006/relationships" id="265" r:id="R22f2e75eba564875"/>
    <p:sldId xmlns:r="http://schemas.openxmlformats.org/officeDocument/2006/relationships" id="266" r:id="R0faab691ba644f3a"/>
    <p:sldId xmlns:r="http://schemas.openxmlformats.org/officeDocument/2006/relationships" id="267" r:id="R4e0d121f2bbb423e"/>
    <p:sldId xmlns:r="http://schemas.openxmlformats.org/officeDocument/2006/relationships" id="268" r:id="R44029a7cff5445d9"/>
    <p:sldId xmlns:r="http://schemas.openxmlformats.org/officeDocument/2006/relationships" id="269" r:id="R4259d404c60d4f3e"/>
    <p:sldId xmlns:r="http://schemas.openxmlformats.org/officeDocument/2006/relationships" id="270" r:id="Rf3a684c133c547dc"/>
    <p:sldId xmlns:r="http://schemas.openxmlformats.org/officeDocument/2006/relationships" id="271" r:id="R18e0a78fc9044c7c"/>
    <p:sldId xmlns:r="http://schemas.openxmlformats.org/officeDocument/2006/relationships" id="272" r:id="R6025da3e63c34861"/>
    <p:sldId xmlns:r="http://schemas.openxmlformats.org/officeDocument/2006/relationships" id="273" r:id="R023209453e414c1a"/>
    <p:sldId xmlns:r="http://schemas.openxmlformats.org/officeDocument/2006/relationships" id="274" r:id="R0868ebc449d7473b"/>
    <p:sldId xmlns:r="http://schemas.openxmlformats.org/officeDocument/2006/relationships" id="275" r:id="Ra3b292199a0c4885"/>
    <p:sldId xmlns:r="http://schemas.openxmlformats.org/officeDocument/2006/relationships" id="276" r:id="Rbdc28b5f033348e8"/>
    <p:sldId xmlns:r="http://schemas.openxmlformats.org/officeDocument/2006/relationships" id="277" r:id="R6959c88cafff476d"/>
    <p:sldId xmlns:r="http://schemas.openxmlformats.org/officeDocument/2006/relationships" id="278" r:id="R077d036a4e6d495d"/>
    <p:sldId xmlns:r="http://schemas.openxmlformats.org/officeDocument/2006/relationships" id="279" r:id="Re8dec1e62be840ba"/>
    <p:sldId xmlns:r="http://schemas.openxmlformats.org/officeDocument/2006/relationships" id="280" r:id="Rb6cd2532cf104af9"/>
    <p:sldId xmlns:r="http://schemas.openxmlformats.org/officeDocument/2006/relationships" id="281" r:id="R07e4743cebb141ac"/>
    <p:sldId xmlns:r="http://schemas.openxmlformats.org/officeDocument/2006/relationships" id="282" r:id="R9229cdfcc2814c8b"/>
    <p:sldId xmlns:r="http://schemas.openxmlformats.org/officeDocument/2006/relationships" id="283" r:id="Rfe6ccd9be4c9435e"/>
    <p:sldId xmlns:r="http://schemas.openxmlformats.org/officeDocument/2006/relationships" id="284" r:id="Rcf6aee113b9c4f2a"/>
    <p:sldId xmlns:r="http://schemas.openxmlformats.org/officeDocument/2006/relationships" id="285" r:id="R6ef5f31db5b64cca"/>
    <p:sldId xmlns:r="http://schemas.openxmlformats.org/officeDocument/2006/relationships" id="286" r:id="R89eb98fdb592457b"/>
    <p:sldId xmlns:r="http://schemas.openxmlformats.org/officeDocument/2006/relationships" id="287" r:id="Ref6d608456d44d4b"/>
    <p:sldId xmlns:r="http://schemas.openxmlformats.org/officeDocument/2006/relationships" id="288" r:id="Rc0be0f2abcab4f70"/>
    <p:sldId xmlns:r="http://schemas.openxmlformats.org/officeDocument/2006/relationships" id="289" r:id="R8ac828b73f8f4d33"/>
    <p:sldId xmlns:r="http://schemas.openxmlformats.org/officeDocument/2006/relationships" id="290" r:id="Rd8c5902154ba46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6606957d984bf0" /><Relationship Type="http://schemas.openxmlformats.org/officeDocument/2006/relationships/slideMaster" Target="/ppt/slideMasters/slideMaster1.xml" Id="R3b6fb12f8a7e4f78" /><Relationship Type="http://schemas.openxmlformats.org/officeDocument/2006/relationships/notesMaster" Target="/ppt/notesMasters/notesMaster1.xml" Id="R1ecfef4def394d4c" /><Relationship Type="http://schemas.openxmlformats.org/officeDocument/2006/relationships/presProps" Target="/ppt/presProps.xml" Id="Ra5c39a50d6ad4b62" /><Relationship Type="http://schemas.openxmlformats.org/officeDocument/2006/relationships/tableStyles" Target="/ppt/tableStyles.xml" Id="R62c2a5029755478c" /><Relationship Type="http://schemas.openxmlformats.org/officeDocument/2006/relationships/slide" Target="/ppt/slides/slide1.xml" Id="R9c244149737d42a0" /><Relationship Type="http://schemas.openxmlformats.org/officeDocument/2006/relationships/slide" Target="/ppt/slides/slide2.xml" Id="R331af55c52ac4574" /><Relationship Type="http://schemas.openxmlformats.org/officeDocument/2006/relationships/slide" Target="/ppt/slides/slide3.xml" Id="R512404a5c9354bc2" /><Relationship Type="http://schemas.openxmlformats.org/officeDocument/2006/relationships/slide" Target="/ppt/slides/slide4.xml" Id="R40e1947bef104b52" /><Relationship Type="http://schemas.openxmlformats.org/officeDocument/2006/relationships/slide" Target="/ppt/slides/slide5.xml" Id="Rb988099e78344611" /><Relationship Type="http://schemas.openxmlformats.org/officeDocument/2006/relationships/slide" Target="/ppt/slides/slide6.xml" Id="R33992388ea584276" /><Relationship Type="http://schemas.openxmlformats.org/officeDocument/2006/relationships/slide" Target="/ppt/slides/slide7.xml" Id="Ra0310520dcf44543" /><Relationship Type="http://schemas.openxmlformats.org/officeDocument/2006/relationships/slide" Target="/ppt/slides/slide8.xml" Id="Rd33b5955cebe49bf" /><Relationship Type="http://schemas.openxmlformats.org/officeDocument/2006/relationships/slide" Target="/ppt/slides/slide9.xml" Id="Rc15f02556ddd43a9" /><Relationship Type="http://schemas.openxmlformats.org/officeDocument/2006/relationships/slide" Target="/ppt/slides/slide10.xml" Id="R22f2e75eba564875" /><Relationship Type="http://schemas.openxmlformats.org/officeDocument/2006/relationships/slide" Target="/ppt/slides/slide11.xml" Id="R0faab691ba644f3a" /><Relationship Type="http://schemas.openxmlformats.org/officeDocument/2006/relationships/slide" Target="/ppt/slides/slide12.xml" Id="R4e0d121f2bbb423e" /><Relationship Type="http://schemas.openxmlformats.org/officeDocument/2006/relationships/slide" Target="/ppt/slides/slide13.xml" Id="R44029a7cff5445d9" /><Relationship Type="http://schemas.openxmlformats.org/officeDocument/2006/relationships/slide" Target="/ppt/slides/slide14.xml" Id="R4259d404c60d4f3e" /><Relationship Type="http://schemas.openxmlformats.org/officeDocument/2006/relationships/slide" Target="/ppt/slides/slide15.xml" Id="Rf3a684c133c547dc" /><Relationship Type="http://schemas.openxmlformats.org/officeDocument/2006/relationships/slide" Target="/ppt/slides/slide16.xml" Id="R18e0a78fc9044c7c" /><Relationship Type="http://schemas.openxmlformats.org/officeDocument/2006/relationships/slide" Target="/ppt/slides/slide17.xml" Id="R6025da3e63c34861" /><Relationship Type="http://schemas.openxmlformats.org/officeDocument/2006/relationships/slide" Target="/ppt/slides/slide18.xml" Id="R023209453e414c1a" /><Relationship Type="http://schemas.openxmlformats.org/officeDocument/2006/relationships/slide" Target="/ppt/slides/slide19.xml" Id="R0868ebc449d7473b" /><Relationship Type="http://schemas.openxmlformats.org/officeDocument/2006/relationships/slide" Target="/ppt/slides/slide20.xml" Id="Ra3b292199a0c4885" /><Relationship Type="http://schemas.openxmlformats.org/officeDocument/2006/relationships/slide" Target="/ppt/slides/slide21.xml" Id="Rbdc28b5f033348e8" /><Relationship Type="http://schemas.openxmlformats.org/officeDocument/2006/relationships/slide" Target="/ppt/slides/slide22.xml" Id="R6959c88cafff476d" /><Relationship Type="http://schemas.openxmlformats.org/officeDocument/2006/relationships/slide" Target="/ppt/slides/slide23.xml" Id="R077d036a4e6d495d" /><Relationship Type="http://schemas.openxmlformats.org/officeDocument/2006/relationships/slide" Target="/ppt/slides/slide24.xml" Id="Re8dec1e62be840ba" /><Relationship Type="http://schemas.openxmlformats.org/officeDocument/2006/relationships/slide" Target="/ppt/slides/slide25.xml" Id="Rb6cd2532cf104af9" /><Relationship Type="http://schemas.openxmlformats.org/officeDocument/2006/relationships/slide" Target="/ppt/slides/slide26.xml" Id="R07e4743cebb141ac" /><Relationship Type="http://schemas.openxmlformats.org/officeDocument/2006/relationships/slide" Target="/ppt/slides/slide27.xml" Id="R9229cdfcc2814c8b" /><Relationship Type="http://schemas.openxmlformats.org/officeDocument/2006/relationships/slide" Target="/ppt/slides/slide28.xml" Id="Rfe6ccd9be4c9435e" /><Relationship Type="http://schemas.openxmlformats.org/officeDocument/2006/relationships/slide" Target="/ppt/slides/slide29.xml" Id="Rcf6aee113b9c4f2a" /><Relationship Type="http://schemas.openxmlformats.org/officeDocument/2006/relationships/slide" Target="/ppt/slides/slide30.xml" Id="R6ef5f31db5b64cca" /><Relationship Type="http://schemas.openxmlformats.org/officeDocument/2006/relationships/slide" Target="/ppt/slides/slide31.xml" Id="R89eb98fdb592457b" /><Relationship Type="http://schemas.openxmlformats.org/officeDocument/2006/relationships/slide" Target="/ppt/slides/slide32.xml" Id="Ref6d608456d44d4b" /><Relationship Type="http://schemas.openxmlformats.org/officeDocument/2006/relationships/slide" Target="/ppt/slides/slide33.xml" Id="Rc0be0f2abcab4f70" /><Relationship Type="http://schemas.openxmlformats.org/officeDocument/2006/relationships/slide" Target="/ppt/slides/slide34.xml" Id="R8ac828b73f8f4d33" /><Relationship Type="http://schemas.openxmlformats.org/officeDocument/2006/relationships/slide" Target="/ppt/slides/slide35.xml" Id="Rd8c5902154ba46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d96df6e2b4d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38182834b4876" /><Relationship Type="http://schemas.openxmlformats.org/officeDocument/2006/relationships/notesMaster" Target="/ppt/notesMasters/notesMaster1.xml" Id="R3bb972d1a5bd43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6d31df98ac48fe" /><Relationship Type="http://schemas.openxmlformats.org/officeDocument/2006/relationships/notesMaster" Target="/ppt/notesMasters/notesMaster1.xml" Id="Re892c95444564c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1abd21905b46b8" /><Relationship Type="http://schemas.openxmlformats.org/officeDocument/2006/relationships/notesMaster" Target="/ppt/notesMasters/notesMaster1.xml" Id="R9fa86faddeb4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5cb76c744047bd" /><Relationship Type="http://schemas.openxmlformats.org/officeDocument/2006/relationships/notesMaster" Target="/ppt/notesMasters/notesMaster1.xml" Id="R69614ce271be46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e63b16c6d643a7" /><Relationship Type="http://schemas.openxmlformats.org/officeDocument/2006/relationships/notesMaster" Target="/ppt/notesMasters/notesMaster1.xml" Id="R7ce327e31ab949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bb8728152347fc" /><Relationship Type="http://schemas.openxmlformats.org/officeDocument/2006/relationships/notesMaster" Target="/ppt/notesMasters/notesMaster1.xml" Id="Re02e3428df3249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42bf2bef1846c3" /><Relationship Type="http://schemas.openxmlformats.org/officeDocument/2006/relationships/notesMaster" Target="/ppt/notesMasters/notesMaster1.xml" Id="R072c2bb4b5874c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cc712b61b44610" /><Relationship Type="http://schemas.openxmlformats.org/officeDocument/2006/relationships/notesMaster" Target="/ppt/notesMasters/notesMaster1.xml" Id="R2cc05d24276d47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f2736a20574459" /><Relationship Type="http://schemas.openxmlformats.org/officeDocument/2006/relationships/notesMaster" Target="/ppt/notesMasters/notesMaster1.xml" Id="R16402a951afa43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922017c58c4dd7" /><Relationship Type="http://schemas.openxmlformats.org/officeDocument/2006/relationships/notesMaster" Target="/ppt/notesMasters/notesMaster1.xml" Id="R0c4c7d4fec5a46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1e48c5ea88414f" /><Relationship Type="http://schemas.openxmlformats.org/officeDocument/2006/relationships/notesMaster" Target="/ppt/notesMasters/notesMaster1.xml" Id="R1e47f5f83df04c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c412fabd3a4508" /><Relationship Type="http://schemas.openxmlformats.org/officeDocument/2006/relationships/notesMaster" Target="/ppt/notesMasters/notesMaster1.xml" Id="R4e7eaee1462943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8204a237e84f3d" /><Relationship Type="http://schemas.openxmlformats.org/officeDocument/2006/relationships/notesMaster" Target="/ppt/notesMasters/notesMaster1.xml" Id="R07d31cfbf19043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9f4da0bf0b438c" /><Relationship Type="http://schemas.openxmlformats.org/officeDocument/2006/relationships/notesMaster" Target="/ppt/notesMasters/notesMaster1.xml" Id="R70167834ed8848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fca5cfc8354bad" /><Relationship Type="http://schemas.openxmlformats.org/officeDocument/2006/relationships/notesMaster" Target="/ppt/notesMasters/notesMaster1.xml" Id="R29420b3bb36549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dcf90cffc04228" /><Relationship Type="http://schemas.openxmlformats.org/officeDocument/2006/relationships/notesMaster" Target="/ppt/notesMasters/notesMaster1.xml" Id="R12bd6c9610a149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47b5999a0d400f" /><Relationship Type="http://schemas.openxmlformats.org/officeDocument/2006/relationships/notesMaster" Target="/ppt/notesMasters/notesMaster1.xml" Id="R89989339a7f14a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51cb5ec1f8432d" /><Relationship Type="http://schemas.openxmlformats.org/officeDocument/2006/relationships/notesMaster" Target="/ppt/notesMasters/notesMaster1.xml" Id="Rcc67515d727c43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a4af1709e84aed" /><Relationship Type="http://schemas.openxmlformats.org/officeDocument/2006/relationships/notesMaster" Target="/ppt/notesMasters/notesMaster1.xml" Id="R99ca7c3604304f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4a41bb19d3421a" /><Relationship Type="http://schemas.openxmlformats.org/officeDocument/2006/relationships/notesMaster" Target="/ppt/notesMasters/notesMaster1.xml" Id="Rc2ec98faef0e47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b7e6e216c04ffb" /><Relationship Type="http://schemas.openxmlformats.org/officeDocument/2006/relationships/notesMaster" Target="/ppt/notesMasters/notesMaster1.xml" Id="Rf969d203c55447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cdb91596674032" /><Relationship Type="http://schemas.openxmlformats.org/officeDocument/2006/relationships/notesMaster" Target="/ppt/notesMasters/notesMaster1.xml" Id="Re55e771925a549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ad383be8eba4846" /><Relationship Type="http://schemas.openxmlformats.org/officeDocument/2006/relationships/notesMaster" Target="/ppt/notesMasters/notesMaster1.xml" Id="R9d46a0b833c246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d9f144ee7f454c" /><Relationship Type="http://schemas.openxmlformats.org/officeDocument/2006/relationships/notesMaster" Target="/ppt/notesMasters/notesMaster1.xml" Id="Rf03887c5aca6448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558a063f384db0" /><Relationship Type="http://schemas.openxmlformats.org/officeDocument/2006/relationships/notesMaster" Target="/ppt/notesMasters/notesMaster1.xml" Id="Rd201ca0906cf45c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4f018685b74903" /><Relationship Type="http://schemas.openxmlformats.org/officeDocument/2006/relationships/notesMaster" Target="/ppt/notesMasters/notesMaster1.xml" Id="R6ef75c3f80634b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88c137f3e3d473a" /><Relationship Type="http://schemas.openxmlformats.org/officeDocument/2006/relationships/notesMaster" Target="/ppt/notesMasters/notesMaster1.xml" Id="R3778b3367dce44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8d4277b36114a30" /><Relationship Type="http://schemas.openxmlformats.org/officeDocument/2006/relationships/notesMaster" Target="/ppt/notesMasters/notesMaster1.xml" Id="R957de91525f148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3a7c52cb52840b3" /><Relationship Type="http://schemas.openxmlformats.org/officeDocument/2006/relationships/notesMaster" Target="/ppt/notesMasters/notesMaster1.xml" Id="Rcfd888c1e516493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ed78dcf29b34499" /><Relationship Type="http://schemas.openxmlformats.org/officeDocument/2006/relationships/notesMaster" Target="/ppt/notesMasters/notesMaster1.xml" Id="R573e898ea1564e5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7d0014b9d7d4407" /><Relationship Type="http://schemas.openxmlformats.org/officeDocument/2006/relationships/notesMaster" Target="/ppt/notesMasters/notesMaster1.xml" Id="Rfd04288b7bb9401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cbfbc8edaaa46aa" /><Relationship Type="http://schemas.openxmlformats.org/officeDocument/2006/relationships/notesMaster" Target="/ppt/notesMasters/notesMaster1.xml" Id="R341b8635dcc549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2a48e0ce08c4b0c" /><Relationship Type="http://schemas.openxmlformats.org/officeDocument/2006/relationships/notesMaster" Target="/ppt/notesMasters/notesMaster1.xml" Id="R349a3a4b1996496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6a258706a674473" /><Relationship Type="http://schemas.openxmlformats.org/officeDocument/2006/relationships/notesMaster" Target="/ppt/notesMasters/notesMaster1.xml" Id="R4418ac91d3c541a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994e41e87d842b9" /><Relationship Type="http://schemas.openxmlformats.org/officeDocument/2006/relationships/notesMaster" Target="/ppt/notesMasters/notesMaster1.xml" Id="R27c1d66cd29145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Tạo một data card nhỏ và đề xuất cách chia train, validation, test tránh rò rỉ theo video hoặc phiên.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một chuỗi frame gần nhau để minh họa leakage. Metadata không thay thế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datasets/README.md; reports/evidence/training_lineage/lineage_manifest.json; REPORT_GAP_REGISTER.md. Các con số là artifact lịch sử.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Không dùng hình ảnh có mặt hoặc thông tin nhận dạng khi chưa có sự đồng 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Gán nhãn YOLO hợp lệ, tính IoU và đếm TP, FP, FN theo một operating point đã cho.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Phóng to một ảnh để chỉ pixel. Dùng vật nhỏ ở xa để giải thích tác động độ phân giải.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nội bộ: deliverables/ha_noi/screenshots/live_monitor_multi_cam.png. Khái niệm đánh giá đối chiếu scripts/evaluation/evaluate_phone.py.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Ảnh negative phải có file label rỗng theo protocol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Vẽ đúng hai pipeline điện thoại/quay đầu và gán nhãn một sự kiện theo khoảng thời gian.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tô màu phần learned, rule-based và human decision bằng ba màu khác nhau.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backend/services/temporal_tracker.py; datasets/README.md; ảnh nội bộ pose_heuristic_diagram.png.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Các timeline trong bài là giả định, không phải dữ liệu đo mới.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Đọc `args.yaml` và `results.csv`, giải thích checkpoint, resume, loss, metric và các kết luận chưa đủ bằng chứng.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ví dụ một batch nhỏ. Không dạy chi tiết đạo hàm nếu học viên chưa có nền toán.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reports/evidence/training_lineage/args.yaml, results.csv, lineage_manifest.json. Artifact chỉ phản ánh run lịch sử.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Không chạy lại training trong khóa chính và không truy cập thư mục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Tính metric ở một operating point, đọc giới hạn benchmark và giải thích đầy đủ pipeline triển khai.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mỗi học viên chọn một lớp và nêu đầu vào, đầu ra, một lỗi có thể xảy 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reports/evidence/report_runtime/e2e_benchmark_result.json; architecture_pipeline_diagram.png; reports/evidence/training_lineage/lineage_manifest.json.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Phần rehearsal giám khảo chỉ dùng để kiểm tra hiểu, không thay thế bài tập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fc19f0e4544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1ba2216f68477d" /><Relationship Type="http://schemas.openxmlformats.org/officeDocument/2006/relationships/slideLayout" Target="/ppt/slideLayouts/slideLayout1.xml" Id="R908842cec6f345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842cec6f345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530856f44fab" /><Relationship Type="http://schemas.openxmlformats.org/officeDocument/2006/relationships/notesSlide" Target="/ppt/notesSlides/notesSlide1.xml" Id="R035b604e96bb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b4a04bb46439e" /><Relationship Type="http://schemas.openxmlformats.org/officeDocument/2006/relationships/notesSlide" Target="/ppt/notesSlides/notesSlide2.xml" Id="R14c2a704bbb847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38077efcf49e1" /><Relationship Type="http://schemas.openxmlformats.org/officeDocument/2006/relationships/notesSlide" Target="/ppt/notesSlides/notesSlide3.xml" Id="R20c64e2d888c4f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686da3a9c4aeb" /><Relationship Type="http://schemas.openxmlformats.org/officeDocument/2006/relationships/notesSlide" Target="/ppt/notesSlides/notesSlide4.xml" Id="R653bc1c2c79445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6cc5fd6a042fb" /><Relationship Type="http://schemas.openxmlformats.org/officeDocument/2006/relationships/notesSlide" Target="/ppt/notesSlides/notesSlide5.xml" Id="R8775641a826641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9bc1a652140f9" /><Relationship Type="http://schemas.openxmlformats.org/officeDocument/2006/relationships/notesSlide" Target="/ppt/notesSlides/notesSlide6.xml" Id="Rc327abf919974d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d9b0174fc4844" /><Relationship Type="http://schemas.openxmlformats.org/officeDocument/2006/relationships/notesSlide" Target="/ppt/notesSlides/notesSlide7.xml" Id="R89f74952c8e346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e321dd8354ff0" /><Relationship Type="http://schemas.openxmlformats.org/officeDocument/2006/relationships/notesSlide" Target="/ppt/notesSlides/notesSlide8.xml" Id="R390807a893cc48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d0a05b60f4a3e" /><Relationship Type="http://schemas.openxmlformats.org/officeDocument/2006/relationships/notesSlide" Target="/ppt/notesSlides/notesSlide9.xml" Id="R88301ca347084a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f49030ffa4a92" /><Relationship Type="http://schemas.openxmlformats.org/officeDocument/2006/relationships/notesSlide" Target="/ppt/notesSlides/notesSlide10.xml" Id="R710a51afafd744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8aad4b90c4e66" /><Relationship Type="http://schemas.openxmlformats.org/officeDocument/2006/relationships/image" Target="/ppt/media/image.png" Id="R19b4f7d142424400" /><Relationship Type="http://schemas.openxmlformats.org/officeDocument/2006/relationships/notesSlide" Target="/ppt/notesSlides/notesSlide11.xml" Id="R8e24dbb3b9bc42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060a0af404076" /><Relationship Type="http://schemas.openxmlformats.org/officeDocument/2006/relationships/notesSlide" Target="/ppt/notesSlides/notesSlide12.xml" Id="R6a5cbf9919e348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bebf2ecd84b2f" /><Relationship Type="http://schemas.openxmlformats.org/officeDocument/2006/relationships/notesSlide" Target="/ppt/notesSlides/notesSlide13.xml" Id="R3275903771f744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43153ce2c42db" /><Relationship Type="http://schemas.openxmlformats.org/officeDocument/2006/relationships/notesSlide" Target="/ppt/notesSlides/notesSlide14.xml" Id="R1f4298e683ea47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eb5a9177247bf" /><Relationship Type="http://schemas.openxmlformats.org/officeDocument/2006/relationships/notesSlide" Target="/ppt/notesSlides/notesSlide15.xml" Id="R7792b4f5fa6542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4fb395ede4bdf" /><Relationship Type="http://schemas.openxmlformats.org/officeDocument/2006/relationships/notesSlide" Target="/ppt/notesSlides/notesSlide16.xml" Id="R7f75bf71e44e4e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91997955d4a40" /><Relationship Type="http://schemas.openxmlformats.org/officeDocument/2006/relationships/notesSlide" Target="/ppt/notesSlides/notesSlide17.xml" Id="Rb1169b29421c4c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27efa792f4092" /><Relationship Type="http://schemas.openxmlformats.org/officeDocument/2006/relationships/image" Target="/ppt/media/image2.png" Id="Re6c24f0f8c29416c" /><Relationship Type="http://schemas.openxmlformats.org/officeDocument/2006/relationships/notesSlide" Target="/ppt/notesSlides/notesSlide18.xml" Id="Rfab006dd9dcf43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c03570105444a" /><Relationship Type="http://schemas.openxmlformats.org/officeDocument/2006/relationships/notesSlide" Target="/ppt/notesSlides/notesSlide19.xml" Id="R7ddc1b3d7dff4a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5779c6076483b" /><Relationship Type="http://schemas.openxmlformats.org/officeDocument/2006/relationships/notesSlide" Target="/ppt/notesSlides/notesSlide20.xml" Id="R83ce7132aa9443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badfbc687402f" /><Relationship Type="http://schemas.openxmlformats.org/officeDocument/2006/relationships/notesSlide" Target="/ppt/notesSlides/notesSlide21.xml" Id="R2cb1b23185de421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7ae9cc5c4454a" /><Relationship Type="http://schemas.openxmlformats.org/officeDocument/2006/relationships/notesSlide" Target="/ppt/notesSlides/notesSlide22.xml" Id="R3a1f40664ff244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157d1a6804635" /><Relationship Type="http://schemas.openxmlformats.org/officeDocument/2006/relationships/notesSlide" Target="/ppt/notesSlides/notesSlide23.xml" Id="Rd13b0cec5db747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285d7f2254ad4" /><Relationship Type="http://schemas.openxmlformats.org/officeDocument/2006/relationships/notesSlide" Target="/ppt/notesSlides/notesSlide24.xml" Id="R170fa9b105b846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d3f9d91b44e7a" /><Relationship Type="http://schemas.openxmlformats.org/officeDocument/2006/relationships/notesSlide" Target="/ppt/notesSlides/notesSlide25.xml" Id="R94fe958540934bc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a86672cea4ecb" /><Relationship Type="http://schemas.openxmlformats.org/officeDocument/2006/relationships/notesSlide" Target="/ppt/notesSlides/notesSlide26.xml" Id="Ra54170f9a1204c5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0eae95d944166" /><Relationship Type="http://schemas.openxmlformats.org/officeDocument/2006/relationships/notesSlide" Target="/ppt/notesSlides/notesSlide27.xml" Id="R82d52a857c0841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4dec1baf84803" /><Relationship Type="http://schemas.openxmlformats.org/officeDocument/2006/relationships/notesSlide" Target="/ppt/notesSlides/notesSlide28.xml" Id="R035c4479753c44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6b077e2b14f9f" /><Relationship Type="http://schemas.openxmlformats.org/officeDocument/2006/relationships/notesSlide" Target="/ppt/notesSlides/notesSlide29.xml" Id="R8dfe80744ebb40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d7f7327214da8" /><Relationship Type="http://schemas.openxmlformats.org/officeDocument/2006/relationships/notesSlide" Target="/ppt/notesSlides/notesSlide30.xml" Id="R6b7b0cc64689455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b935a10184984" /><Relationship Type="http://schemas.openxmlformats.org/officeDocument/2006/relationships/notesSlide" Target="/ppt/notesSlides/notesSlide31.xml" Id="R591640e4b29948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332f8c4844f79" /><Relationship Type="http://schemas.openxmlformats.org/officeDocument/2006/relationships/image" Target="/ppt/media/image3.png" Id="R8df5635662634398" /><Relationship Type="http://schemas.openxmlformats.org/officeDocument/2006/relationships/notesSlide" Target="/ppt/notesSlides/notesSlide32.xml" Id="R754528ddf13542e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15527077248af" /><Relationship Type="http://schemas.openxmlformats.org/officeDocument/2006/relationships/notesSlide" Target="/ppt/notesSlides/notesSlide33.xml" Id="R881c68963c25461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bca394fb04131" /><Relationship Type="http://schemas.openxmlformats.org/officeDocument/2006/relationships/notesSlide" Target="/ppt/notesSlides/notesSlide34.xml" Id="R1b88af62459d456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b3547b4cc4163" /><Relationship Type="http://schemas.openxmlformats.org/officeDocument/2006/relationships/notesSlide" Target="/ppt/notesSlides/notesSlide35.xml" Id="R79bc52ebb9ce42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70060-16DA-471F-99C9-9517EEE9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BUỔI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F77A6-DA22-4912-BA3C-6AF2DBE3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Dữ liệu, nhãn và cách máy học từ ví dụ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61839-A883-46F1-A050-DC69CBD2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Từ ảnh thô đến dataset có thể dùng để học và đánh giá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FDB2E-5763-4414-995D-D942208C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B98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0A3AB-21CD-4781-B1DE-A9370CAA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Tạo một data card nhỏ và đề xuất cách chia train, validation, test tránh rò rỉ theo video hoặc phiên.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02A9D-613C-4AFD-966B-6F1FE57B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1559110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A2BFB-D38B-43D9-98D3-F4284F57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FE857-E22B-46BD-A880-107182B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E42D8-12D9-4AD9-BED5-E76D8DCA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FBDAD-6946-4998-91C9-436D4ADC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Nếu máy chưa biết “điện thoại” là gì, ta phải đưa những ví dụ nào và mô tả đáp án ra sao?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0BD91-476E-4552-A7D0-38B2EFF1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EEF18-2C35-459F-A81C-3BB8CAD5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2DA55-E70A-4DDC-9E01-CB515526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AI, ML, DL và Computer 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F4898-AA67-48CE-B778-33AB9831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83328-7DBB-4524-8F05-1A4B4DE3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sample, label, metadata và hard negative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65579-1406-427B-9FA0-35A63E76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BD1CC-30AB-4516-8508-F9A9D5F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Giải thích train, validation, test và data leakage</a:t>
            </a:r>
          </a:p>
        </p:txBody>
      </p:sp>
    </p:spTree>
    <p:extLst>
      <p:ext uri="{BB962C8B-B14F-4D97-AF65-F5344CB8AC3E}">
        <p14:creationId xmlns:p14="http://schemas.microsoft.com/office/powerpoint/2010/main" val="2028986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C24C7-1A2C-411B-AF11-7757F7B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Một dataset đáng tin có nhiều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49327-75D2-4382-A780-B371B9C3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F86EA-3F26-4988-BDCF-E5608C52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3C595-1023-471F-BD0F-6A7D1868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2097C-0FE8-4E86-B851-27355B0B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E8DA4-2271-4095-AA16-2729899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Thu thập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2E6DE-B23D-4D9A-A39B-A464260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Nguồn và quyền dùng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A8CBA-2365-40E0-9B95-280B9984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6DAB2-07B7-4D51-B364-549278FB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FEEA5-85A8-445E-8EBC-0E6641C8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Gán nhãn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3E687-46EA-419F-A2DD-C322BE14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Đáp án nhất quán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AF417-5466-45A3-8082-F8E73ECD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CFA85-D4F2-4DBB-8D56-360B13F0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D3C08-CB88-4DD0-9AE3-3C04F3B3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60894-86D7-4DC0-AAC5-21F83093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Điều kiện của mẫu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564F8-F147-4326-B587-2F81D9A9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F8A48-45BE-431F-AB72-FBAF4CC6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C12D0-84C9-431F-BCC7-A372D774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Chia tập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66F25-BADA-413C-8671-6F8DFCF3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Độc lập theo phiên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82120-882E-4E86-AD6F-A26D620A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3C908-3693-4201-9572-2E64D3E4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5CE2E-E7A9-4CB8-80C7-93A7A347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CF68D-8394-461B-9FDB-29E4F974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Đúng protocol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2C557-8290-4AC4-AAD3-99D6D8E8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Nhiều ảnh không bù được nhãn sai hoặc cách chia tập bị rò rỉ.</a:t>
            </a:r>
          </a:p>
        </p:txBody>
      </p:sp>
    </p:spTree>
    <p:extLst>
      <p:ext uri="{BB962C8B-B14F-4D97-AF65-F5344CB8AC3E}">
        <p14:creationId xmlns:p14="http://schemas.microsoft.com/office/powerpoint/2010/main" val="1602455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6DF77-4EB2-4019-ADBD-1CDC3FA4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Protocol dữ liệu của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EEBC0-E84F-45A4-93C3-CBB1D36A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45F7E-B1DC-49E7-BA88-333346BC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60F1E-6C77-49EC-B327-5FB8FC56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PHONE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Positive: có ít nhất một box class 0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Negative: file label rỗng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Hard negative: calculator, ví, hộp bút...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Metadata: session, camera, lighting, occlusion, distance, provenance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HISTORICAL LINEAGE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2.961 ảnh và 3.706 phone boxes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Untouched holdout: còn mở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6DE2D-03D9-4C3C-9A9C-F9AEB78F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Có tập mang tên test chưa đủ chứng minh một holdout độc lập.</a:t>
            </a:r>
          </a:p>
        </p:txBody>
      </p:sp>
    </p:spTree>
    <p:extLst>
      <p:ext uri="{BB962C8B-B14F-4D97-AF65-F5344CB8AC3E}">
        <p14:creationId xmlns:p14="http://schemas.microsoft.com/office/powerpoint/2010/main" val="13485575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C242A-9B8E-4902-83A4-7ED2E7E9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FBFEB-A97C-4C59-9C3C-8B77625C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72E34-36CE-4779-9E3F-8C2C505A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57997-19E0-4C2B-84C5-AD84701A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Thiết kế một bộ dữ liệu nhỏ cho detector điện thoại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6C2A7-F681-47B2-A08B-7D4305F4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70295-0EEF-4639-92BD-F6B7B91F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loại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AF321-D755-4F80-995E-CEFBE482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Chọn positive, negative và hard negative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0A9CF-350F-4B73-A572-12898C92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EF461-4F84-487A-A08E-BE48C016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Mô tả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7C9E8-5532-4668-9186-C25AB1FE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Ghi nguồn, quyền dùng, ánh sáng, che khuất, khoảng cách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11A9C-45F0-4983-9CD1-35E9845B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3E186-279D-49F0-9E48-4765F0A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Chia tập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1A95C-E21E-40DF-BFEB-EC8087A2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Tách theo video/session/camera hợp lý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3FA7C-499F-4D52-BA29-BF889E51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9628C-41B4-49C6-B4FD-F5C60611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48883-2736-41C9-8DF1-AA9D45F9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Tìm khả năng trùng và gần trùng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CCBDB-2603-4A50-A0A4-4C5AF12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Sản phẩm nộp: data card + split plan</a:t>
            </a:r>
          </a:p>
        </p:txBody>
      </p:sp>
    </p:spTree>
    <p:extLst>
      <p:ext uri="{BB962C8B-B14F-4D97-AF65-F5344CB8AC3E}">
        <p14:creationId xmlns:p14="http://schemas.microsoft.com/office/powerpoint/2010/main" val="72973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1AAF4-544E-4A8D-87CA-DC2F3504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3BB24-C9C1-4BB1-9A16-E3AB22B8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A5337-2602-4C80-8C2C-50184AE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1D968-D46D-42A9-A1FF-10263B53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EEA56-40ED-4714-8BAD-E92B1570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Dữ liệu càng nhiều thì tự động càng tốt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A9D28-7716-4000-B747-9863B187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Chất lượng nhãn, độ đại diện và cách chia tập quyết định giá trị của số lượng.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726CA-C5CE-4B68-B39C-E9B28B5D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707E3-8414-4A4E-AC2A-AD458EDE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Ảnh không có phone thì bỏ đi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B0982-1460-4D08-844E-436428E1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Negative và hard negative giúp model học khi nào không nên báo.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71FD6-E047-44B7-9496-13B22287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403AB-80CF-4EC1-A215-1778FA8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Test là dữ liệu dùng để chỉnh đến khi đẹp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2027D-F1C9-4DE3-AF0C-E6CD9A81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Một tập đã tham gia lựa chọn không còn là untouched holdout.</a:t>
            </a:r>
          </a:p>
        </p:txBody>
      </p:sp>
    </p:spTree>
    <p:extLst>
      <p:ext uri="{BB962C8B-B14F-4D97-AF65-F5344CB8AC3E}">
        <p14:creationId xmlns:p14="http://schemas.microsoft.com/office/powerpoint/2010/main" val="507661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D96D8-9338-4040-B8F7-DAE0619B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2FE95-0341-43A8-986E-99179528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9AD92-01E3-432B-AABA-3A846DE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74DA4-98EE-455E-AE37-A8455668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C8D8E-859F-453F-B194-5F40EE0E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B97DD-CE5C-4E10-9601-6B11C48B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Label khác metadata ở điểm nào?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8CCA9-515C-4902-B91B-A4D6C079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1C927-9D62-4D0F-9A01-3ACE928F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Vì sao không chia ngẫu nhiên các frame gần nhau?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087E9-D54A-414A-8CB2-272F664A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324CE-2B24-4D20-A068-23FFC331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Hard negative giúp kiểm tra điều gì?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51DF1-687D-4276-B727-3C9C4836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data card + split plan</a:t>
            </a:r>
          </a:p>
        </p:txBody>
      </p:sp>
    </p:spTree>
    <p:extLst>
      <p:ext uri="{BB962C8B-B14F-4D97-AF65-F5344CB8AC3E}">
        <p14:creationId xmlns:p14="http://schemas.microsoft.com/office/powerpoint/2010/main" val="1808489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418D0-D5F4-4C30-9942-9883F54A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BUỔI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5BF86-37CB-46ED-821A-2CFDD22C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Computer Vision và object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95788-C53D-4FDD-AC98-DDA686FB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Pixel, bounding box, confidence và cách ghép prediction với nhãn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945EE-E193-4B4E-9BAF-26BF7F12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ECDCD-B256-4304-83CC-45842D70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Gán nhãn YOLO hợp lệ, tính IoU và đếm TP, FP, FN theo một operating point đã cho.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DE1ED-5F0E-486F-9DFB-BB226192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1410378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A8372-3E0C-4BA7-8BBC-FC7BE6D6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E5413-43A2-44DC-9429-125BBD4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38CD9-55B0-464F-B0A8-4DD12AB1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AEA5C-941A-4A95-8D68-AD29606F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ảnh biến thành con số thế nào, và model biết một bounding box là đúng bằng cách nào?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2FCF9-A187-420F-8B4A-9C2ACEC7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DDDD0-D221-469D-A98D-68811A20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0D6A5-7104-4B57-81D2-A0522DD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classification với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D4D96-5455-4021-9302-FB6324B4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8E0F1-6642-46BF-841E-D1C9AA12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và tạo nhãn YOLO chuẩn hóa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A4022-3E9D-4EB8-95FC-51AEE281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E17E8-9605-45DF-A249-CEF3FB17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Giải thích confidence, IoU, threshold và NMS</a:t>
            </a:r>
          </a:p>
        </p:txBody>
      </p:sp>
    </p:spTree>
    <p:extLst>
      <p:ext uri="{BB962C8B-B14F-4D97-AF65-F5344CB8AC3E}">
        <p14:creationId xmlns:p14="http://schemas.microsoft.com/office/powerpoint/2010/main" val="20755928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901A8F-E023-4057-B89C-ED632470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Từ pixel đến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66971-7C7F-4C13-A341-DDC55F1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F7CBB-8B77-4888-942E-CD1B9F3C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2424B-7674-4F5B-A71A-D0EFB1A0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D0464-E3FE-4063-BD6F-8627FC34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94F03-8A95-4754-99EC-1DEB082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Ảnh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B8ED6-1205-4164-94EA-3DA454CB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Pixel và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76CBC-DE83-4E24-BE8A-B3FE8FDD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DB663-495E-457F-8F8A-CD215402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25ACB-7FB7-4DAA-AEEB-DE3E227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Resize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951DB-84AF-4335-BE7C-9C2AB9C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Giữ hoặc mất chi tiết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E8596-A110-4682-AEF0-9AA7B8FA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F2305-D0BC-4532-AF19-66FDF331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F7196-9D36-488B-BB2B-9E984AB0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C43BA-0F76-487D-B882-F560F98A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Dự đoán box và điểm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7D293-2948-456E-BB1D-A26B4B32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7F17F-C823-4A99-89B1-8052F086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50ABC-351C-49EE-A5D2-2347A12A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Ngưỡng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8D089-DBAB-42E2-BB90-D707A0EA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Giữ prediction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41175-7BCC-4CAE-B59D-3010C989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AA473-D0D9-45EC-B4F1-5F37B7AD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45534-4B5F-435A-BE3F-D9A188B3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NMS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A938B-4FBD-4296-AE5D-904DD9E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Loại box trùng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E5D66-1A7F-48A7-8F1A-F3468A46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Camera FPS, inference FPS và số kết quả mỗi giây là ba đại lượng cần gọi đúng.</a:t>
            </a:r>
          </a:p>
        </p:txBody>
      </p:sp>
    </p:spTree>
    <p:extLst>
      <p:ext uri="{BB962C8B-B14F-4D97-AF65-F5344CB8AC3E}">
        <p14:creationId xmlns:p14="http://schemas.microsoft.com/office/powerpoint/2010/main" val="1655288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06203-AF1C-4B2A-8E9C-48E325C3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Detector điện thoại trong giao diện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6FD5E-0103-401B-8B37-F7185DE0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AD7FC-B62E-40C0-AC70-32C3D59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5860F-E883-4C9A-9FC6-5E1B6897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810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Classification trả một lớp cho toàn ảnh.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Detection trả class, bounding box và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IoU đo độ chồng khớp giữa prediction và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Threshold chọn operating point. NMS giảm box trùng.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4f7d142424400"/>
          <a:stretch xmlns:a="http://schemas.openxmlformats.org/drawingml/2006/main"/>
        </p:blipFill>
        <p:spPr>
          <a:xfrm xmlns:a="http://schemas.openxmlformats.org/drawingml/2006/main">
            <a:off x="5810250" y="1666875"/>
            <a:ext cx="5715000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C6D10-D59A-4C2B-8690-017AEA8A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Confidence không phải xác suất một người đang gian lận.</a:t>
            </a:r>
          </a:p>
        </p:txBody>
      </p:sp>
    </p:spTree>
    <p:extLst>
      <p:ext uri="{BB962C8B-B14F-4D97-AF65-F5344CB8AC3E}">
        <p14:creationId xmlns:p14="http://schemas.microsoft.com/office/powerpoint/2010/main" val="3169909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A4500-B407-4454-A038-DCD120CF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0BDDB-E132-44B0-BA7D-0E319D2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688B0-A772-4371-BE5A-E642DE7B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15C8F-9EFB-416C-BD3C-3034CCD1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Gán nhãn, review box và chấm tám prediction giả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CA507-899D-479D-BFE6-B140AEB9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12855-8A90-490D-9A43-D3A8127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Vẽ 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50070-F76D-4344-8A73-DB532A6E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Bao sát điện thoại theo guideline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8523C-EFED-44FC-AACF-9BAED4AD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1096B-9330-47B0-995A-A450A8BF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BD2FC-6675-47F3-ABCE-A400ACE9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Đổi sang class, tâm, rộng, 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8C872-2980-41A6-A669-E47FC643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29F03-E60B-4D4C-B83B-15BBD7F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D2047-A390-4667-922B-E94BB40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So nhãn giữa hai người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4F246-C1F3-4E6C-B66F-D6C8915F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94653-1091-4972-876A-3910ED6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BEBDD-DC95-4CC7-822A-3E8BDF0A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Áp confidence và IoU để đếm TP, FP, FN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6615F-39B0-428C-AF78-ECEDBD6A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Sản phẩm nộp: 10 nhãn mẫu + phiếu kiểm nhãn</a:t>
            </a:r>
          </a:p>
        </p:txBody>
      </p:sp>
    </p:spTree>
    <p:extLst>
      <p:ext uri="{BB962C8B-B14F-4D97-AF65-F5344CB8AC3E}">
        <p14:creationId xmlns:p14="http://schemas.microsoft.com/office/powerpoint/2010/main" val="10292537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BBB8D-09D2-4953-9845-D1C06D13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454F5-4370-4F2C-8D60-4CAC2BF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7D425-4504-4454-A790-AACE47B1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FC54D-9867-4932-AA40-3610C7C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0B637-B8DF-437F-AF12-FA80CCF7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Box rộng hơn sẽ an toàn hơn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47154-B15A-4540-9052-654A8870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Box dư nền làm nhãn kém nhất quán và giảm chất lượng định vị.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43C92-4401-4300-9135-6F30F21C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EECEB-CC10-49F6-85E4-39724E62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Confidence 0,9 nghĩa là đúng 90%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7B5E4-B04D-4008-BCFE-70393693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Confidence là điểm dự đoán; độ đúng cần đo trên dữ liệu có nhãn.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1F174-ACFC-467B-8022-789989D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CEB8A-9A89-40E4-9110-FB04BB8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Hạ threshold luôn tốt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F0929-8E02-4757-B126-1B2538B5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Hạ ngưỡng thường giữ thêm cả true positive và false positive.</a:t>
            </a:r>
          </a:p>
        </p:txBody>
      </p:sp>
    </p:spTree>
    <p:extLst>
      <p:ext uri="{BB962C8B-B14F-4D97-AF65-F5344CB8AC3E}">
        <p14:creationId xmlns:p14="http://schemas.microsoft.com/office/powerpoint/2010/main" val="20018707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BB1F0-7EE5-49A1-AAF2-F3585489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681C9-1BD5-44A3-AD67-A2A6AC24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33663-B39E-4EB6-9081-201EEE02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E0E9F-AD19-4943-8749-5C24563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6B8BB-3DA5-438A-BB69-222921A4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EE6C4-DC47-4401-BAB6-E052C71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Detection thêm thông tin gì so với classification?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72E3C-2054-45A6-9091-F6C3A826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ED791-7A45-41EE-A4D1-A6CB45DD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IoU đo gì và không đo gì?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86D85-28BA-40A1-8DB5-4339AE83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BCDB3-D98D-4D1A-B813-020A712A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NMS giải quyết vấn đề nào?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16D35-9031-40EE-97C8-17A3033C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10 nhãn mẫu + phiếu kiểm nhãn</a:t>
            </a:r>
          </a:p>
        </p:txBody>
      </p:sp>
    </p:spTree>
    <p:extLst>
      <p:ext uri="{BB962C8B-B14F-4D97-AF65-F5344CB8AC3E}">
        <p14:creationId xmlns:p14="http://schemas.microsoft.com/office/powerpoint/2010/main" val="8312493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B98AE-4C83-46AC-BF70-AE036AB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BUỔI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9485E-FD84-4C4A-85EE-9E9AF735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Pose, tracking và hành vi theo thời gian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0DAF2-64F9-440B-AC2A-7BB03682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Từ keypoint của từng frame đến một sự kiện có start và 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32466-D21D-4CFB-A19A-A34079C8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B98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48043-EF76-43D0-8FFB-F986CD28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Vẽ đúng hai pipeline điện thoại/quay đầu và gán nhãn một sự kiện theo khoảng thời gian.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87BAC-0806-4132-938B-99F4791F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9379581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B08DE-3307-4DD5-98F3-8510822C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89ABE-074A-46B0-B468-18FB426D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8D4B1-3655-4C01-B451-AF34A6C4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7AE22-0062-4E31-9F26-588CC5CA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tư thế trong một frame có đủ để gọi là hành vi quay đầu không?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56D8F-A31E-4BC7-9A7B-F553A595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BDAE0-078E-4CDE-9F15-13795A45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DE01E-8CB7-4A37-9FCB-702A3F43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Giải thích keypoint và heuristic hình học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F5F54-D8E9-4422-9D58-8662E8B0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2F5A2-5380-4EC5-A806-76AA667B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Hiểu track ID là mã tạm thời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F7E4B-06EA-4EAD-9029-6D333529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1BF9E-5FE0-491A-9A2D-D042E069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frame prediction với event theo thời gian</a:t>
            </a:r>
          </a:p>
        </p:txBody>
      </p:sp>
    </p:spTree>
    <p:extLst>
      <p:ext uri="{BB962C8B-B14F-4D97-AF65-F5344CB8AC3E}">
        <p14:creationId xmlns:p14="http://schemas.microsoft.com/office/powerpoint/2010/main" val="8889696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D38184-CF3F-4888-8625-30B26947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Pipeline quay đầu là hệ lai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15C43-AF25-40A0-9460-CE0ED3C2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DCD00-BBCD-4C3B-986B-0355CAAB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82ECE-4999-4641-92ED-26E67130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EB04E-D0C0-42F8-A82A-1314493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5C9F8-5C77-4FA7-9DA7-8219159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Pose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B15A6-57CC-4A09-B420-7895612A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Dự đoán keypoint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454A3-E0A8-4193-A022-11770CD9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ACCEF-31D2-4CC0-8688-1EE664E7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D5258-2C74-4D88-B942-8F89A3C6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Hình học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418A9-BBE8-46AD-A50A-B812F336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Tạo điểm nghi vấn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4ACC3-9FB3-48E3-B938-07CCBEE3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1E792-C8B0-436E-8E94-6D274583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94F0D-D770-4E32-9E31-A9052741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D4C3F-CC5C-4262-8C9E-A3D62B10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Nối người qua 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7D5F8-D9A1-4807-AB2B-63AD6131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606DC-18A5-42C7-849B-E43269BA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67652-E9E0-453A-A9EC-FDAE4867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Temporal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4F87A-877D-4809-A763-6E137119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Kiểm tra liên tục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AEB5F-2A2E-4FFA-A53C-6A12ABF1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26AE0-6A57-48D9-85BC-C61952FE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06A6B-00DE-4B03-8991-6A865D59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6141E-BF86-4B75-93D8-4D8B7957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Duyệt bối cảnh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4D936-51CF-43D8-8A9A-F8F878DD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Phần learned tạo keypoint. Phần heuristic và state machine tạo cảnh báo nghiệp vụ.</a:t>
            </a:r>
          </a:p>
        </p:txBody>
      </p:sp>
    </p:spTree>
    <p:extLst>
      <p:ext uri="{BB962C8B-B14F-4D97-AF65-F5344CB8AC3E}">
        <p14:creationId xmlns:p14="http://schemas.microsoft.com/office/powerpoint/2010/main" val="16697578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962B9-070D-4361-8D9A-7A9D91A7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Heuristic và gap guard của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8392A-9EF2-41F5-B669-0D429EB0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6371B-BFC5-4D84-B339-65DF4031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49F36-7741-4550-89EE-1BE0C66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810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Mặc định trong temporal tracker: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Alert duration: 1,25 giây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Minimum samples: 3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Maximum gap: 0,75 giây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Nếu gap vượt mức, chuỗi nghi vấn reset. Track ID gắn với source/session, không phải danh tính.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24f0f8c29416c"/>
          <a:stretch xmlns:a="http://schemas.openxmlformats.org/drawingml/2006/main"/>
        </p:blipFill>
        <p:spPr>
          <a:xfrm xmlns:a="http://schemas.openxmlformats.org/drawingml/2006/main">
            <a:off x="5810250" y="1830490"/>
            <a:ext cx="5715000" cy="324464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6FD59-EF45-4A29-8D94-88146870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`turn_deg` không được trình bày như góc đầu 3D đã hiệu chuẩn.</a:t>
            </a:r>
          </a:p>
        </p:txBody>
      </p:sp>
    </p:spTree>
    <p:extLst>
      <p:ext uri="{BB962C8B-B14F-4D97-AF65-F5344CB8AC3E}">
        <p14:creationId xmlns:p14="http://schemas.microsoft.com/office/powerpoint/2010/main" val="11389890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4675A-BF38-49BB-9DAB-7BE460D4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E21AB-B6F5-4E6D-8F1F-19E5D6D6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128BD-B28B-4FD4-95A7-D2C6B8C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F1225-BDD6-43FD-884E-7DA62E1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Gán nhãn interval và mô phỏng state machine bằng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BA677-7497-4CA9-9C47-13E4C61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71AE5-498E-401C-A946-3CD7387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Đặt mốc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C9BF8-E7F8-4631-B5CD-CED0AEF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Ghi start, end, direction, target anonymous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88B22-BF22-4A4E-A845-7D88A28C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D797C-01BF-42D0-98F7-7E003CF8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Theo dõi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E8D26-1E7F-4A1A-8FD8-84099710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Nối quan sát theo source, session, track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D4A22-560B-440E-80B9-3F94995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5FA35-01B7-4018-9F83-52D58DF9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83E87-6672-41F4-93DA-38B864C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Reset khi khoảng cách vượt 0,75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7EA3B-E7F3-4320-B124-13F05B58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1F79C-ED39-40DA-BB59-13164D4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loại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B167F-581B-4F35-B0E5-2EBD6676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Green, yellow hoặc red theo điều kiện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8D229-88D0-4BCA-9EFB-35810720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Sản phẩm nộp: event labels + sơ đồ hai pipeline</a:t>
            </a:r>
          </a:p>
        </p:txBody>
      </p:sp>
    </p:spTree>
    <p:extLst>
      <p:ext uri="{BB962C8B-B14F-4D97-AF65-F5344CB8AC3E}">
        <p14:creationId xmlns:p14="http://schemas.microsoft.com/office/powerpoint/2010/main" val="376938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D8CC2-EE39-450C-BA4D-509A6505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521B3-5733-4A7A-A9C7-44B1626F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A42EE-4E74-4FF3-AF4E-2786E402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EFAED-3A29-4824-AEC1-FFE00831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45F55-9A74-402D-9CB7-E32D74A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Keypoint đã là kết luận gian lận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4158F-C597-4433-858B-57CCE7E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Keypoint chỉ là output hình học; cần quy tắc và người duyệt.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1AB75-EAF9-4131-AEFE-7A8D4A05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49DAE-79B2-4FFD-B608-B687FA74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Track 4 là thí sinh số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BDB62-D900-4391-BE08-EF201A80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ID có thể đổi khi mất dấu, đổi nguồn hoặc reset phiên.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EEEF0-C176-4443-B16F-2E201514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8EB49-C5F9-4410-9182-B1032F86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Hai frame cách nhau 1,25 s đủ tạo đỏ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30CB3-D904-44F0-A79B-E457552F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Chuỗi còn cần tính liên tục và số quan sát tối thiểu.</a:t>
            </a:r>
          </a:p>
        </p:txBody>
      </p:sp>
    </p:spTree>
    <p:extLst>
      <p:ext uri="{BB962C8B-B14F-4D97-AF65-F5344CB8AC3E}">
        <p14:creationId xmlns:p14="http://schemas.microsoft.com/office/powerpoint/2010/main" val="5614392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7051-44CB-4CDD-A054-A2BA437F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3CEDC-0E6B-4B65-A6A6-AE2A4FCA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9E111-A4C5-43AC-8642-7D8F39A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D1CE6-1789-4BF9-B90E-C8A897A6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65EA4-41CD-411E-B11A-10B24F39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C3CCB-B210-4946-ABF4-7AA7E16F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Phần nào học từ dữ liệu, phần nào là heuristic?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82E84-F87D-4F06-921D-7AFF28D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695B0-D0C9-4625-B0A6-5A52B2EB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Khi nào track ID có thể đổi?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9FC07-8ED3-44A8-A9F4-F5CE542C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2ED3C-C83C-4E21-932B-8E9645B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Vì sao event label cần start và end?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270B4-D679-495A-9F1B-5A1CAE51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event labels + sơ đồ hai pipeline</a:t>
            </a:r>
          </a:p>
        </p:txBody>
      </p:sp>
    </p:spTree>
    <p:extLst>
      <p:ext uri="{BB962C8B-B14F-4D97-AF65-F5344CB8AC3E}">
        <p14:creationId xmlns:p14="http://schemas.microsoft.com/office/powerpoint/2010/main" val="9098839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3FB0D-6F0A-430D-90F8-A47DD6F1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BUỔI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08CF7-2C28-4C81-99FA-CBBCAAF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Deep Learning, transfer learning và fine-tune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8DE73-821A-42DA-A596-20DEFDC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Đọc một run huấn luyện lịch sử thay vì học thuộc thuật ngữ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9C4B4-EC73-4A98-ACAF-429E8E98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6820A-EFF3-4D91-A6CF-20F51BA2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`args.yaml` và `results.csv`, giải thích checkpoint, resume, loss, metric và các kết luận chưa đủ bằng chứng.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A8E97-38AB-4D26-B1A6-81DFC143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8712284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2ADA2-BEA4-4371-9F6A-C5180919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3AB1E-EFE7-4F68-B805-5A720571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33CDF-12F5-442F-B02B-23C1C83B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2B738-C520-4AC5-AFE8-530EA521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Fine-tune đã làm gì với một model có sẵn, và nhìn log nào để biết việc học đang diễn ra?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0673B-C2DB-4713-9CCC-C2308201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FA6F4-D10C-4B78-8F7A-6CD44031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C806D-F0E3-4020-A24D-B4B388A4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Kể đúng vòng prediction, loss, gradient,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DACEB-7B89-49DA-A2AF-42CE666E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7B56A-AF48-40C2-924F-4A122821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pretrained, fine-tune, checkpoint và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52C7C-EC54-4F07-87F8-2321E22B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BC401-271D-4870-8D66-3B021299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hyperparameter cùng dấu hiệu overfit</a:t>
            </a:r>
          </a:p>
        </p:txBody>
      </p:sp>
    </p:spTree>
    <p:extLst>
      <p:ext uri="{BB962C8B-B14F-4D97-AF65-F5344CB8AC3E}">
        <p14:creationId xmlns:p14="http://schemas.microsoft.com/office/powerpoint/2010/main" val="1402224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9267E-ABA3-4003-AFF3-C6C3C5D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Vòng lặp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C61C1-0279-40CF-838E-753A53A8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99EFA-AB48-49EF-AD7C-52BE0E6B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0651A-5278-4FF6-8BFE-4623B149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EF193-2EF5-4468-8F9F-2DA84713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7CBDC-8254-483D-A398-6F7A6949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24671-2833-4E3E-8F8E-1F058FE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Input và 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FF02F-2102-4BC2-97E1-73B9C489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D2046-709A-42BF-A8BC-3A642F49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B6664-69E4-4652-9F8C-6468C760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858B9-6C4B-457C-B319-F29E1592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Model dự đoán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E4A6B-BAB4-4276-8025-27C313D3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FFC31-7C61-47DF-9D37-B71F58F1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29E3C-8410-4AE2-A0FD-6ADDD3B8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7B9FA-853E-497D-BB85-C332D172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So với ground truth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8F9C4-97F3-4838-9827-7B81EF5B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6BAC0-0361-4F7D-ADE3-9A6CD119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85129-5245-4A24-8BB0-6A3B9C9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Gradient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1029B-24D6-4F74-A459-03D0681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Hướng điều chỉnh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E0BC8-D488-4992-80CB-87957014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964B7-0DE2-4C18-B1CC-AB009631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1AB92-9D84-454F-9643-3B0F6254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77C4D-FE51-4250-B62D-C30EFD57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Đổi weights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53107-DE3D-49B2-8316-FC11F9F7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Inference dừng ở prediction. Fine-tune tiếp tục tính loss và cập nhật weights.</a:t>
            </a:r>
          </a:p>
        </p:txBody>
      </p:sp>
    </p:spTree>
    <p:extLst>
      <p:ext uri="{BB962C8B-B14F-4D97-AF65-F5344CB8AC3E}">
        <p14:creationId xmlns:p14="http://schemas.microsoft.com/office/powerpoint/2010/main" val="12870553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A6D62-610D-4679-8709-212C4D9A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Run lịch sử của detector điện thoại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52B6A-3D57-4117-8235-289A8ECF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7B868-C479-4C4B-BE0A-6945CB13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97427-2859-4896-9468-21BA2CF0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task: detect · mode: train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epochs: 60 · batch: 6 · imgsz: 960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optimizer: auto · seed: 0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resume: last.pt · close_mosaic: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Log có box loss, cls loss, DFL loss, precision, recall, mAP.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Time reset trước epoch 6 là dấu vết resume.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Initial pretrained checkpoint: UNRESOLVED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Best checkpoint source epoch: UNRESOLVED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180D5-2DB9-47E7-B28A-CC50F9C7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Epoch có mAP50 cao nhất không tự chứng minh đó là epoch sinh checkpoint triển khai.</a:t>
            </a:r>
          </a:p>
        </p:txBody>
      </p:sp>
    </p:spTree>
    <p:extLst>
      <p:ext uri="{BB962C8B-B14F-4D97-AF65-F5344CB8AC3E}">
        <p14:creationId xmlns:p14="http://schemas.microsoft.com/office/powerpoint/2010/main" val="1969355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7BC55-FF7B-47A5-BB02-08C765F9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FBC43-19BF-4BB4-BFDA-EC6788E5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0954A-2143-4AB9-ADFD-B7BC0901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05A42-A5ED-498F-AF9B-E9AFFC7F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Điền phiếu đọc run và chẩn đoán ba đường cong giả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BE7BF-0617-4193-A026-C8D22549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25F7E-9B5E-4F52-A932-84AB52C9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config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51DAB-DDE7-459F-A96E-93EFD61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Task, model, epoch, batch, image size, optimizer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2AB3A-ADE1-4FCB-B6A1-1BB3A474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66D40-447C-4331-A838-50BC7CDA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8A3F8-2FD0-4554-96C7-D91818CD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Loss và metric theo epoch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86019-48C9-4B55-9420-C768DEB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0B8C7-7070-4377-A824-D8AD50E6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Tìm resume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E1AB3-8E83-4CD1-84DB-A5BAC850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Đối chiếu args và time reset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2AF0E-2162-4F85-9433-34E6AEB1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A625A-3E81-4223-A41D-B411CBD9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Đặt giới hạn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C63C5-6D24-42AB-B377-CE20E40C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Ghi rõ fact, inference và unresolved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E6B56-E511-40C8-85C2-9093B280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Sản phẩm nộp: phiếu đọc fine-tune run</a:t>
            </a:r>
          </a:p>
        </p:txBody>
      </p:sp>
    </p:spTree>
    <p:extLst>
      <p:ext uri="{BB962C8B-B14F-4D97-AF65-F5344CB8AC3E}">
        <p14:creationId xmlns:p14="http://schemas.microsoft.com/office/powerpoint/2010/main" val="4526156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9E691-2390-4E7E-ABAF-CF85F036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66885-151E-4CE5-9EE2-F6E6D480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15687-E15D-48F9-AC42-FDF16C3C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8A10C-2276-4626-B5D6-8F4553C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94E3D-4B9D-4482-B8E9-401835B5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Mở webcam là fine-tune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F21CD-DFFC-4BE1-AD36-9C03881C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Đó là inference vì weights không được cập nhật.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9DE61-22E7-4979-9688-E3C00C88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DFE44-7D4C-495E-9A5E-8789E63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Loss giảm nghĩa thực địa chắc chắn tốt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15321-910F-48D9-8FCE-86E98992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Cần validation/test đại diện và phân tích lỗi.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279D3-788D-42BA-8E02-68F8F2E3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CBD03-175F-4026-A746-FF83D1D7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Augmentation tạo đủ mọi điều kiện thật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62BF8-A22E-46CF-AF75-2FCC3B4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Biến đổi ảnh không thay thế dữ liệu mục tiêu được thu đúng cách.</a:t>
            </a:r>
          </a:p>
        </p:txBody>
      </p:sp>
    </p:spTree>
    <p:extLst>
      <p:ext uri="{BB962C8B-B14F-4D97-AF65-F5344CB8AC3E}">
        <p14:creationId xmlns:p14="http://schemas.microsoft.com/office/powerpoint/2010/main" val="10550060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37F09-2EE2-41F3-8B34-6760E4C0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D6575-2351-417A-B1CE-D0ECC38F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CA351-C562-4947-BFBA-83406310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983DF-8E34-4585-82F8-669EA8B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DD5F2-4228-4715-B49E-540DFBD9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BE80A-0052-4681-AC02-BC6F292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Fine-tune khác inference ở đâu?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B4B58-3B97-4219-AFC8-8279A014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D6532-558C-40CF-B199-2B5DAF28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Resume từ last.pt chứng minh điều gì?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C9E8A-FB8F-460F-9A07-4F695CDF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305A0-BB54-4E26-8B3D-B1B94DC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Loss và metric có vai trò khác nhau thế nào?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36862-C52D-4877-AC4F-C728C85F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phiếu đọc fine-tune run</a:t>
            </a:r>
          </a:p>
        </p:txBody>
      </p:sp>
    </p:spTree>
    <p:extLst>
      <p:ext uri="{BB962C8B-B14F-4D97-AF65-F5344CB8AC3E}">
        <p14:creationId xmlns:p14="http://schemas.microsoft.com/office/powerpoint/2010/main" val="7519992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C31DB-522D-4AC0-8454-9736AF1C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BUỔI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2D190-6D54-44DC-908A-8E8497E1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Đánh giá, inference và ghép thành sản phẩm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BA0E6-3A79-40CD-B884-D993C9B4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Từ checkpoint đến cảnh báo có bằng chứng và người duyệt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4072C-492B-48A5-AC50-98B907AE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B98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040F1-9EB6-4E14-8B9A-ED7C0248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Tính metric ở một operating point, đọc giới hạn benchmark và giải thích đầy đủ pipeline triển khai.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A3A87-8C6D-4519-B75D-F8423A9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2101711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9ABDB-DBDC-4FDB-9BEA-CA76DE6E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E091F-A93A-4140-9EB8-38AE8445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0F600-4C20-421D-902C-AA80BEAE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4B90D-E243-405C-8581-DFDD550A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Từ model có metric đến hệ thống dùng được còn những lớp nào, và ta được phép kết luận gì?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53C0B-D31B-460E-84E5-5FA552BE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742AD-E025-42D0-B3C5-4A3EC90D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DF0B9-0C34-4713-B3F7-531DC3B1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Tính precision, recall, F1 từ TP, FP,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EC6AE-ED8D-4C6C-BB79-1BCA35DC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8B248-8C81-49B5-ACC8-D3C60A72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đúng AP/mAP và operating threshold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292D7-06DF-405D-9BA3-0EB4ED14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DEAF0-7BDD-45EB-959F-BD232473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lỗi data, model và deployment</a:t>
            </a:r>
          </a:p>
        </p:txBody>
      </p:sp>
    </p:spTree>
    <p:extLst>
      <p:ext uri="{BB962C8B-B14F-4D97-AF65-F5344CB8AC3E}">
        <p14:creationId xmlns:p14="http://schemas.microsoft.com/office/powerpoint/2010/main" val="1109648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376A6-F514-4FD9-B300-2F900CC1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Inference pipeline đầy đủ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34FB8-C11E-43E5-9AAC-B6FD146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06872-5180-471E-AC69-983D9C96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9CF8D-9208-499B-9DBA-136CF101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99CC3-6271-4BD7-940E-BF5D4A0F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A9064-8837-44BD-8006-063E305C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Nguồn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E42CE-714C-48A1-9C50-F58CA0A1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Camera hoặc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477C0-FBFF-41CA-A045-6CDC011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EFF8D-38DA-4B18-9CC3-A5A128E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84866-4F47-4A88-B7D8-1D764FB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9FE01-9821-4F94-8D84-B40DE021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Detection và 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EB83B-2988-4730-BA8F-8C67E58B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08040-0CE4-45DB-92D8-3BB2600C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5A6FF-3D35-4899-9803-B6CC4FE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87BEC-DAAE-4C29-9939-D404C9F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Track và thời gian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1F68A-B7F4-43D2-9B51-3BC0D7AE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EB4CD-4F91-4A73-9615-6F87445B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67E3C-D8AF-402C-B7AF-037F43D0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C4C6D-C6FF-4736-A006-F66C117A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RingBuffer và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7EED1-6CA7-4218-95BD-D3388C6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48AE1-0238-4AA1-9E91-F3683D54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58E6C-7398-47E5-B8F4-4732EFB1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2E04A-1B0A-43FA-8AF8-96CB336F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UI và giám thị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82969-6928-4320-90FF-A95B013B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Một metric của model không đại diện cho mọi lỗi của hệ thống triển khai.</a:t>
            </a:r>
          </a:p>
        </p:txBody>
      </p:sp>
    </p:spTree>
    <p:extLst>
      <p:ext uri="{BB962C8B-B14F-4D97-AF65-F5344CB8AC3E}">
        <p14:creationId xmlns:p14="http://schemas.microsoft.com/office/powerpoint/2010/main" val="8707147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4E872-E4A8-41DD-83D8-180D0ACA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Kiến trúc và benchmark lịch sử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7F930-12EF-45B6-9492-85CAAA4C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7C83-167C-4EB4-8F48-79B16328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E7D71-E16A-498D-A94B-0A404CCC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810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Benchmark 125,1 giây: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Camera/server nhận khoảng 15,58 FPS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354 kết quả, khoảng 2,83 kết quả/s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85,3% frame chờ bị supersede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Mean inference latency 360,4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Đây là phép đo hiệu năng của một cấu hình, không phải accuracy.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5635662634398"/>
          <a:stretch xmlns:a="http://schemas.openxmlformats.org/drawingml/2006/main"/>
        </p:blipFill>
        <p:spPr>
          <a:xfrm xmlns:a="http://schemas.openxmlformats.org/drawingml/2006/main">
            <a:off x="5810250" y="2038494"/>
            <a:ext cx="5715000" cy="282863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16923-5D82-4384-903D-3174F22A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Validation mAP và benchmark latency trả lời hai câu hỏi khác nhau.</a:t>
            </a:r>
          </a:p>
        </p:txBody>
      </p:sp>
    </p:spTree>
    <p:extLst>
      <p:ext uri="{BB962C8B-B14F-4D97-AF65-F5344CB8AC3E}">
        <p14:creationId xmlns:p14="http://schemas.microsoft.com/office/powerpoint/2010/main" val="17148489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B8F88-9411-447F-96FE-828B9C40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86977-1F23-4C12-AB60-2EE963C4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DCB02-35BA-4E70-8B70-E902A99E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BEF0-14F5-4FF7-BF4C-97EAE299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Từ 20 prediction giả định đến một báo cáo đánh giá 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F4641-7B06-4ED6-B14D-7EB2D025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7987C-499E-467D-A7B9-A54A0C43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Khóa phiên bản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07D99-52B5-454A-9753-F6E8801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Checkpoint, dataset, threshold và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5C26B-EE2C-4372-A17B-60119A6D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B01DD-1247-480C-9134-2DC0660F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Tính 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711A3-A704-4D86-AE6E-72F33A3B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TP, FP, FN, precision, recall,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45DC9-0BF6-4052-A9A3-DB44F262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62DEB-DFB9-43EC-B90A-E1F41036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nhóm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D73E3-B52E-4C85-967C-882C5741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Occlusion, distance, lighting hoặc distractor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6A9C2-7462-4570-AF0A-2F73F293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3D335-E012-4950-B094-73CD1114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BA5F1-8D1A-4420-8CB8-2DFEAFC4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Điều đã đo, chưa đo và thí nghiệm tiếp theo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62D7E-2BB7-48BB-A823-524E1D37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Sản phẩm nộp: báo cáo đánh giá mini + giải thích pipeline 2 phút</a:t>
            </a:r>
          </a:p>
        </p:txBody>
      </p:sp>
    </p:spTree>
    <p:extLst>
      <p:ext uri="{BB962C8B-B14F-4D97-AF65-F5344CB8AC3E}">
        <p14:creationId xmlns:p14="http://schemas.microsoft.com/office/powerpoint/2010/main" val="1525567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007B3-8406-4A0B-8AD2-6DD18B24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387EA-BC33-44DC-83A1-C38D04A0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4FCDC-2FE1-4F72-979F-EC2C1031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63B18-CF0D-4C06-B5D6-B901B2F6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3D46-3EB4-4E10-8F43-E9B412E8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mAP50 là xác suất một cảnh báo đúng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D2BF6-3240-4566-AE70-3AD79166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mAP tóm tắt đánh giá detection theo protocol và tập dữ liệu cụ thể.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42229-C2E7-4859-8D0F-7A63BA7A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B494-5507-4586-A8CD-208D54EF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Camera 15 FPS nghĩa AI xử lý 15 FPS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FBBEB-8280-4D1E-896F-B7873A0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Capture rate và inference result rate là hai đại lượng khác nhau.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AA8B2-B94D-4F6C-9508-2C68CA7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851EE-5542-44C0-9DD2-717427B3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Test phần mềm pass chứng minh model tốt ngoài thực tế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E78D5-C919-408A-9234-D08A9BD4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Unit/integration test và model evaluation đo những thuộc tính khác nhau.</a:t>
            </a:r>
          </a:p>
        </p:txBody>
      </p:sp>
    </p:spTree>
    <p:extLst>
      <p:ext uri="{BB962C8B-B14F-4D97-AF65-F5344CB8AC3E}">
        <p14:creationId xmlns:p14="http://schemas.microsoft.com/office/powerpoint/2010/main" val="743205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410F9-69AA-46C4-B7E7-416ADA69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121B6-28BC-40D9-8511-66FC48F4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BD0A3-12EB-408D-85BB-BB350A4D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D90E4-D603-4446-A6AF-853657FE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87B91-504F-4872-B38C-E88558FB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D10F3-970C-4CE6-80CB-A830AFF5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Khi nào ưu tiên precision, khi nào ưu tiên recall?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E3980-3ED0-48A4-9791-5E39A287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FF328-E1F1-4043-9CBB-C7DB2B06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Một model tốt vẫn có thể thất bại ở lớp deployment nào?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3219B-82BA-46A1-BF22-9C0303A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10D07-4898-4F53-9BBE-65A883B9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Em còn thiếu bằng chứng gì để nói về phòng thi thật?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DD037-058E-4959-A63B-374EF0A5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báo cáo đánh giá mini + giải thích pipeline 2 phút</a:t>
            </a:r>
          </a:p>
        </p:txBody>
      </p:sp>
    </p:spTree>
    <p:extLst>
      <p:ext uri="{BB962C8B-B14F-4D97-AF65-F5344CB8AC3E}">
        <p14:creationId xmlns:p14="http://schemas.microsoft.com/office/powerpoint/2010/main" val="1992275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2026-09-26T13:50:21.5390000Z</dcterms:created>
  <dcterms:modified xsi:type="dcterms:W3CDTF">2026-09-26T13:50:21.5390000Z</dcterms:modified>
</coreProperties>
</file>